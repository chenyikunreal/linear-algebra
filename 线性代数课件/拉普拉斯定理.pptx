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-45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image" Target="../media/image15.wmf"/><Relationship Id="rId4" Type="http://schemas.openxmlformats.org/officeDocument/2006/relationships/image" Target="../media/image18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日期占位符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30820CF-B880-4189-942D-D702A7CBA730}" type="datetimeFigureOut">
              <a:rPr lang="zh-CN" altLang="en-US" smtClean="0"/>
              <a:t>2018/9/24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29" name="灯片编号占位符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2" name="矩形 31"/>
          <p:cNvSpPr/>
          <p:nvPr/>
        </p:nvSpPr>
        <p:spPr>
          <a:xfrm>
            <a:off x="0" y="-1"/>
            <a:ext cx="365760" cy="6854456"/>
          </a:xfrm>
          <a:prstGeom prst="rect">
            <a:avLst/>
          </a:prstGeom>
          <a:solidFill>
            <a:srgbClr val="FFFFF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39" name="矩形 38"/>
          <p:cNvSpPr/>
          <p:nvPr/>
        </p:nvSpPr>
        <p:spPr>
          <a:xfrm>
            <a:off x="309558" y="680477"/>
            <a:ext cx="45720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0" name="矩形 39"/>
          <p:cNvSpPr/>
          <p:nvPr/>
        </p:nvSpPr>
        <p:spPr>
          <a:xfrm>
            <a:off x="269073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1" name="矩形 40"/>
          <p:cNvSpPr/>
          <p:nvPr/>
        </p:nvSpPr>
        <p:spPr>
          <a:xfrm>
            <a:off x="250020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42" name="矩形 41"/>
          <p:cNvSpPr/>
          <p:nvPr/>
        </p:nvSpPr>
        <p:spPr>
          <a:xfrm>
            <a:off x="221768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914400" y="4343400"/>
            <a:ext cx="7772400" cy="1975104"/>
          </a:xfrm>
        </p:spPr>
        <p:txBody>
          <a:bodyPr/>
          <a:lstStyle>
            <a:lvl1pPr marR="9144" algn="l">
              <a:defRPr sz="4000" b="1" cap="all" spc="0" baseline="0">
                <a:effectLst>
                  <a:reflection blurRad="12700" stA="34000" endA="740" endPos="53000" dir="5400000" sy="-100000" algn="bl" rotWithShape="0"/>
                </a:effectLst>
              </a:defRPr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914400" y="2834640"/>
            <a:ext cx="7772400" cy="1508760"/>
          </a:xfrm>
        </p:spPr>
        <p:txBody>
          <a:bodyPr lIns="100584" tIns="45720" anchor="b"/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56" name="矩形 55"/>
          <p:cNvSpPr/>
          <p:nvPr/>
        </p:nvSpPr>
        <p:spPr>
          <a:xfrm>
            <a:off x="255291" y="5047394"/>
            <a:ext cx="73152" cy="169164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5" name="矩形 64"/>
          <p:cNvSpPr/>
          <p:nvPr/>
        </p:nvSpPr>
        <p:spPr>
          <a:xfrm>
            <a:off x="255291" y="4796819"/>
            <a:ext cx="73152" cy="2286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6" name="矩形 65"/>
          <p:cNvSpPr/>
          <p:nvPr/>
        </p:nvSpPr>
        <p:spPr>
          <a:xfrm>
            <a:off x="255291" y="4637685"/>
            <a:ext cx="73152" cy="137160"/>
          </a:xfrm>
          <a:prstGeom prst="rect">
            <a:avLst/>
          </a:prstGeom>
          <a:solidFill>
            <a:schemeClr val="bg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7" name="矩形 66"/>
          <p:cNvSpPr/>
          <p:nvPr/>
        </p:nvSpPr>
        <p:spPr>
          <a:xfrm>
            <a:off x="255291" y="4542559"/>
            <a:ext cx="73152" cy="7315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30820CF-B880-4189-942D-D702A7CBA730}" type="datetimeFigureOut">
              <a:rPr lang="zh-CN" altLang="en-US" smtClean="0"/>
              <a:t>2018/9/24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任意多边形 13"/>
          <p:cNvSpPr>
            <a:spLocks/>
          </p:cNvSpPr>
          <p:nvPr/>
        </p:nvSpPr>
        <p:spPr bwMode="auto">
          <a:xfrm>
            <a:off x="4828952" y="1073888"/>
            <a:ext cx="4322136" cy="5791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3648"/>
              </a:cxn>
              <a:cxn ang="0">
                <a:pos x="720" y="2016"/>
              </a:cxn>
              <a:cxn ang="0">
                <a:pos x="2736" y="0"/>
              </a:cxn>
              <a:cxn ang="0">
                <a:pos x="2736" y="96"/>
              </a:cxn>
              <a:cxn ang="0">
                <a:pos x="744" y="2038"/>
              </a:cxn>
              <a:cxn ang="0">
                <a:pos x="48" y="3648"/>
              </a:cxn>
              <a:cxn ang="0">
                <a:pos x="0" y="3648"/>
              </a:cxn>
            </a:cxnLst>
            <a:rect l="0" t="0" r="0" b="0"/>
            <a:pathLst>
              <a:path w="2736" h="3648">
                <a:moveTo>
                  <a:pt x="0" y="3648"/>
                </a:moveTo>
                <a:lnTo>
                  <a:pt x="720" y="2016"/>
                </a:lnTo>
                <a:lnTo>
                  <a:pt x="2736" y="672"/>
                </a:lnTo>
                <a:lnTo>
                  <a:pt x="2736" y="720"/>
                </a:lnTo>
                <a:lnTo>
                  <a:pt x="744" y="2038"/>
                </a:lnTo>
                <a:lnTo>
                  <a:pt x="48" y="3648"/>
                </a:lnTo>
                <a:lnTo>
                  <a:pt x="48" y="3648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5" name="任意多边形 14"/>
          <p:cNvSpPr>
            <a:spLocks/>
          </p:cNvSpPr>
          <p:nvPr/>
        </p:nvSpPr>
        <p:spPr bwMode="auto">
          <a:xfrm>
            <a:off x="373966" y="0"/>
            <a:ext cx="5514536" cy="661533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4080"/>
              </a:cxn>
              <a:cxn ang="0">
                <a:pos x="0" y="4128"/>
              </a:cxn>
              <a:cxn ang="0">
                <a:pos x="3504" y="2640"/>
              </a:cxn>
              <a:cxn ang="0">
                <a:pos x="2880" y="0"/>
              </a:cxn>
              <a:cxn ang="0">
                <a:pos x="2832" y="0"/>
              </a:cxn>
              <a:cxn ang="0">
                <a:pos x="3465" y="2619"/>
              </a:cxn>
              <a:cxn ang="0">
                <a:pos x="0" y="4080"/>
              </a:cxn>
            </a:cxnLst>
            <a:rect l="0" t="0" r="0" b="0"/>
            <a:pathLst>
              <a:path w="3504" h="4128">
                <a:moveTo>
                  <a:pt x="0" y="4080"/>
                </a:moveTo>
                <a:lnTo>
                  <a:pt x="0" y="4128"/>
                </a:lnTo>
                <a:lnTo>
                  <a:pt x="3504" y="2640"/>
                </a:lnTo>
                <a:lnTo>
                  <a:pt x="2880" y="0"/>
                </a:lnTo>
                <a:lnTo>
                  <a:pt x="2832" y="0"/>
                </a:lnTo>
                <a:lnTo>
                  <a:pt x="3465" y="2619"/>
                </a:lnTo>
                <a:lnTo>
                  <a:pt x="0" y="4080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3" name="任意多边形 12"/>
          <p:cNvSpPr>
            <a:spLocks/>
          </p:cNvSpPr>
          <p:nvPr/>
        </p:nvSpPr>
        <p:spPr bwMode="auto">
          <a:xfrm rot="5236414">
            <a:off x="4462128" y="1483600"/>
            <a:ext cx="4114800" cy="118872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6" name="任意多边形 15"/>
          <p:cNvSpPr>
            <a:spLocks/>
          </p:cNvSpPr>
          <p:nvPr/>
        </p:nvSpPr>
        <p:spPr bwMode="auto">
          <a:xfrm>
            <a:off x="5943600" y="0"/>
            <a:ext cx="2743200" cy="4267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104" y="0"/>
              </a:cxn>
              <a:cxn ang="0">
                <a:pos x="1728" y="0"/>
              </a:cxn>
              <a:cxn ang="0">
                <a:pos x="0" y="2688"/>
              </a:cxn>
              <a:cxn ang="0">
                <a:pos x="1104" y="0"/>
              </a:cxn>
            </a:cxnLst>
            <a:rect l="0" t="0" r="0" b="0"/>
            <a:pathLst>
              <a:path w="1728" h="2688">
                <a:moveTo>
                  <a:pt x="1104" y="0"/>
                </a:moveTo>
                <a:lnTo>
                  <a:pt x="1728" y="0"/>
                </a:lnTo>
                <a:lnTo>
                  <a:pt x="0" y="2688"/>
                </a:lnTo>
                <a:lnTo>
                  <a:pt x="110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7" name="任意多边形 16"/>
          <p:cNvSpPr>
            <a:spLocks/>
          </p:cNvSpPr>
          <p:nvPr/>
        </p:nvSpPr>
        <p:spPr bwMode="auto">
          <a:xfrm>
            <a:off x="5943600" y="4267200"/>
            <a:ext cx="3200400" cy="11430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2016" y="240"/>
              </a:cxn>
              <a:cxn ang="0">
                <a:pos x="2016" y="720"/>
              </a:cxn>
              <a:cxn ang="0">
                <a:pos x="0" y="0"/>
              </a:cxn>
            </a:cxnLst>
            <a:rect l="0" t="0" r="0" b="0"/>
            <a:pathLst>
              <a:path w="2016" h="720">
                <a:moveTo>
                  <a:pt x="0" y="0"/>
                </a:moveTo>
                <a:lnTo>
                  <a:pt x="2016" y="240"/>
                </a:lnTo>
                <a:lnTo>
                  <a:pt x="2016" y="72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8" name="任意多边形 17"/>
          <p:cNvSpPr>
            <a:spLocks/>
          </p:cNvSpPr>
          <p:nvPr/>
        </p:nvSpPr>
        <p:spPr bwMode="auto">
          <a:xfrm>
            <a:off x="5943600" y="0"/>
            <a:ext cx="1371600" cy="4267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864" y="0"/>
              </a:cxn>
              <a:cxn ang="0">
                <a:pos x="0" y="2688"/>
              </a:cxn>
              <a:cxn ang="0">
                <a:pos x="768" y="0"/>
              </a:cxn>
              <a:cxn ang="0">
                <a:pos x="864" y="0"/>
              </a:cxn>
            </a:cxnLst>
            <a:rect l="0" t="0" r="0" b="0"/>
            <a:pathLst>
              <a:path w="864" h="2688">
                <a:moveTo>
                  <a:pt x="864" y="0"/>
                </a:moveTo>
                <a:lnTo>
                  <a:pt x="0" y="2688"/>
                </a:lnTo>
                <a:lnTo>
                  <a:pt x="768" y="0"/>
                </a:lnTo>
                <a:lnTo>
                  <a:pt x="86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9" name="任意多边形 18"/>
          <p:cNvSpPr>
            <a:spLocks/>
          </p:cNvSpPr>
          <p:nvPr/>
        </p:nvSpPr>
        <p:spPr bwMode="auto">
          <a:xfrm>
            <a:off x="5948363" y="4246563"/>
            <a:ext cx="2090737" cy="261143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71" y="1645"/>
              </a:cxn>
              <a:cxn ang="0">
                <a:pos x="1317" y="1645"/>
              </a:cxn>
              <a:cxn ang="0">
                <a:pos x="0" y="0"/>
              </a:cxn>
              <a:cxn ang="0">
                <a:pos x="1071" y="1645"/>
              </a:cxn>
            </a:cxnLst>
            <a:rect l="0" t="0" r="0" b="0"/>
            <a:pathLst>
              <a:path w="1317" h="1645">
                <a:moveTo>
                  <a:pt x="1071" y="1645"/>
                </a:moveTo>
                <a:lnTo>
                  <a:pt x="1317" y="1645"/>
                </a:lnTo>
                <a:lnTo>
                  <a:pt x="0" y="0"/>
                </a:lnTo>
                <a:lnTo>
                  <a:pt x="1071" y="1645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0" name="任意多边形 19"/>
          <p:cNvSpPr>
            <a:spLocks/>
          </p:cNvSpPr>
          <p:nvPr/>
        </p:nvSpPr>
        <p:spPr bwMode="auto">
          <a:xfrm>
            <a:off x="5943600" y="4267200"/>
            <a:ext cx="16002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08" y="1632"/>
              </a:cxn>
              <a:cxn ang="0">
                <a:pos x="0" y="0"/>
              </a:cxn>
              <a:cxn ang="0">
                <a:pos x="960" y="1632"/>
              </a:cxn>
              <a:cxn ang="0">
                <a:pos x="1008" y="1632"/>
              </a:cxn>
            </a:cxnLst>
            <a:rect l="0" t="0" r="0" b="0"/>
            <a:pathLst>
              <a:path w="1008" h="1632">
                <a:moveTo>
                  <a:pt x="1008" y="1632"/>
                </a:moveTo>
                <a:lnTo>
                  <a:pt x="0" y="0"/>
                </a:lnTo>
                <a:lnTo>
                  <a:pt x="960" y="1632"/>
                </a:lnTo>
                <a:lnTo>
                  <a:pt x="1008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1" name="任意多边形 20"/>
          <p:cNvSpPr>
            <a:spLocks/>
          </p:cNvSpPr>
          <p:nvPr/>
        </p:nvSpPr>
        <p:spPr bwMode="auto">
          <a:xfrm>
            <a:off x="5943600" y="1371600"/>
            <a:ext cx="3200400" cy="2895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2016" y="144"/>
              </a:cxn>
              <a:cxn ang="0">
                <a:pos x="0" y="1824"/>
              </a:cxn>
              <a:cxn ang="0">
                <a:pos x="2016" y="0"/>
              </a:cxn>
            </a:cxnLst>
            <a:rect l="0" t="0" r="0" b="0"/>
            <a:pathLst>
              <a:path w="2016" h="1824">
                <a:moveTo>
                  <a:pt x="2016" y="0"/>
                </a:moveTo>
                <a:lnTo>
                  <a:pt x="2016" y="144"/>
                </a:lnTo>
                <a:lnTo>
                  <a:pt x="0" y="1824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2" name="任意多边形 21"/>
          <p:cNvSpPr>
            <a:spLocks/>
          </p:cNvSpPr>
          <p:nvPr/>
        </p:nvSpPr>
        <p:spPr bwMode="auto">
          <a:xfrm>
            <a:off x="5943600" y="1752600"/>
            <a:ext cx="3200400" cy="2514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0" y="1584"/>
              </a:cxn>
              <a:cxn ang="0">
                <a:pos x="2016" y="48"/>
              </a:cxn>
              <a:cxn ang="0">
                <a:pos x="2016" y="0"/>
              </a:cxn>
            </a:cxnLst>
            <a:rect l="0" t="0" r="0" b="0"/>
            <a:pathLst>
              <a:path w="2016" h="1584">
                <a:moveTo>
                  <a:pt x="2016" y="0"/>
                </a:moveTo>
                <a:lnTo>
                  <a:pt x="0" y="1584"/>
                </a:lnTo>
                <a:lnTo>
                  <a:pt x="2016" y="48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3" name="任意多边形 22"/>
          <p:cNvSpPr>
            <a:spLocks/>
          </p:cNvSpPr>
          <p:nvPr/>
        </p:nvSpPr>
        <p:spPr bwMode="auto">
          <a:xfrm>
            <a:off x="990600" y="4267200"/>
            <a:ext cx="49530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120" y="0"/>
              </a:cxn>
              <a:cxn ang="0">
                <a:pos x="1056" y="1632"/>
              </a:cxn>
              <a:cxn ang="0">
                <a:pos x="0" y="1632"/>
              </a:cxn>
            </a:cxnLst>
            <a:rect l="0" t="0" r="0" b="0"/>
            <a:pathLst>
              <a:path w="3120" h="1632">
                <a:moveTo>
                  <a:pt x="0" y="1632"/>
                </a:moveTo>
                <a:lnTo>
                  <a:pt x="3120" y="0"/>
                </a:lnTo>
                <a:lnTo>
                  <a:pt x="1056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4" name="任意多边形 23"/>
          <p:cNvSpPr>
            <a:spLocks/>
          </p:cNvSpPr>
          <p:nvPr/>
        </p:nvSpPr>
        <p:spPr bwMode="auto">
          <a:xfrm>
            <a:off x="533400" y="4267200"/>
            <a:ext cx="53340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360" y="0"/>
              </a:cxn>
              <a:cxn ang="0">
                <a:pos x="144" y="1632"/>
              </a:cxn>
              <a:cxn ang="0">
                <a:pos x="0" y="1632"/>
              </a:cxn>
            </a:cxnLst>
            <a:rect l="0" t="0" r="0" b="0"/>
            <a:pathLst>
              <a:path w="3360" h="1632">
                <a:moveTo>
                  <a:pt x="0" y="1632"/>
                </a:moveTo>
                <a:lnTo>
                  <a:pt x="3360" y="0"/>
                </a:lnTo>
                <a:lnTo>
                  <a:pt x="144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5" name="任意多边形 24"/>
          <p:cNvSpPr>
            <a:spLocks/>
          </p:cNvSpPr>
          <p:nvPr/>
        </p:nvSpPr>
        <p:spPr bwMode="auto">
          <a:xfrm>
            <a:off x="366824" y="2438400"/>
            <a:ext cx="5638800" cy="1828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152"/>
              </a:cxn>
              <a:cxn ang="0">
                <a:pos x="0" y="384"/>
              </a:cxn>
              <a:cxn ang="0">
                <a:pos x="0" y="0"/>
              </a:cxn>
            </a:cxnLst>
            <a:rect l="0" t="0" r="0" b="0"/>
            <a:pathLst>
              <a:path w="3552" h="1152">
                <a:moveTo>
                  <a:pt x="0" y="0"/>
                </a:moveTo>
                <a:lnTo>
                  <a:pt x="3504" y="1152"/>
                </a:lnTo>
                <a:lnTo>
                  <a:pt x="0" y="384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6" name="任意多边形 25"/>
          <p:cNvSpPr>
            <a:spLocks/>
          </p:cNvSpPr>
          <p:nvPr/>
        </p:nvSpPr>
        <p:spPr bwMode="auto">
          <a:xfrm>
            <a:off x="366824" y="2133600"/>
            <a:ext cx="5638800" cy="2133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7" name="任意多边形 26"/>
          <p:cNvSpPr>
            <a:spLocks/>
          </p:cNvSpPr>
          <p:nvPr/>
        </p:nvSpPr>
        <p:spPr bwMode="auto">
          <a:xfrm>
            <a:off x="4572000" y="4267200"/>
            <a:ext cx="13716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96" y="1632"/>
              </a:cxn>
              <a:cxn ang="0">
                <a:pos x="864" y="0"/>
              </a:cxn>
              <a:cxn ang="0">
                <a:pos x="0" y="1632"/>
              </a:cxn>
            </a:cxnLst>
            <a:rect l="0" t="0" r="0" b="0"/>
            <a:pathLst>
              <a:path w="864" h="1632">
                <a:moveTo>
                  <a:pt x="0" y="1632"/>
                </a:moveTo>
                <a:lnTo>
                  <a:pt x="96" y="1632"/>
                </a:lnTo>
                <a:lnTo>
                  <a:pt x="864" y="0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06902" y="1351672"/>
            <a:ext cx="5718048" cy="977486"/>
          </a:xfrm>
        </p:spPr>
        <p:txBody>
          <a:bodyPr lIns="82296" tIns="45720" bIns="0" anchor="t"/>
          <a:lstStyle>
            <a:lvl1pPr marL="54864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30820CF-B880-4189-942D-D702A7CBA730}" type="datetimeFigureOut">
              <a:rPr lang="zh-CN" altLang="en-US" smtClean="0"/>
              <a:t>2018/9/24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363160" y="402264"/>
            <a:ext cx="8503920" cy="886265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06902" y="512064"/>
            <a:ext cx="8156448" cy="777240"/>
          </a:xfrm>
        </p:spPr>
        <p:txBody>
          <a:bodyPr tIns="64008"/>
          <a:lstStyle>
            <a:lvl1pPr algn="l">
              <a:buNone/>
              <a:defRPr sz="3800" b="0" cap="none" spc="-150" baseline="0"/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 flipH="1">
            <a:off x="371538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9" name="矩形 8"/>
          <p:cNvSpPr/>
          <p:nvPr/>
        </p:nvSpPr>
        <p:spPr>
          <a:xfrm flipH="1">
            <a:off x="411109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0" name="矩形 9"/>
          <p:cNvSpPr/>
          <p:nvPr/>
        </p:nvSpPr>
        <p:spPr>
          <a:xfrm flipH="1">
            <a:off x="448450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 flipH="1">
            <a:off x="476702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2" name="矩形 11"/>
          <p:cNvSpPr/>
          <p:nvPr/>
        </p:nvSpPr>
        <p:spPr>
          <a:xfrm>
            <a:off x="500478" y="680477"/>
            <a:ext cx="36576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512064"/>
            <a:ext cx="8229600" cy="914400"/>
          </a:xfrm>
        </p:spPr>
        <p:txBody>
          <a:bodyPr/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4344" y="17705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344" y="17705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30820CF-B880-4189-942D-D702A7CBA730}" type="datetimeFigureOut">
              <a:rPr lang="zh-CN" altLang="en-US" smtClean="0"/>
              <a:t>2018/9/24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/>
          <p:nvPr/>
        </p:nvSpPr>
        <p:spPr>
          <a:xfrm>
            <a:off x="0" y="402265"/>
            <a:ext cx="8867080" cy="886265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4824" y="512064"/>
            <a:ext cx="7772400" cy="914400"/>
          </a:xfrm>
        </p:spPr>
        <p:txBody>
          <a:bodyPr anchor="t"/>
          <a:lstStyle>
            <a:lvl1pPr>
              <a:defRPr sz="4000"/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809750"/>
            <a:ext cx="4040188" cy="639762"/>
          </a:xfrm>
        </p:spPr>
        <p:txBody>
          <a:bodyPr anchor="ctr"/>
          <a:lstStyle>
            <a:lvl1pPr marL="73152" indent="0" algn="l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645025" y="1809750"/>
            <a:ext cx="4041775" cy="639762"/>
          </a:xfrm>
        </p:spPr>
        <p:txBody>
          <a:bodyPr anchor="ctr"/>
          <a:lstStyle>
            <a:lvl1pPr marL="73152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457200" y="2459037"/>
            <a:ext cx="4040188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459037"/>
            <a:ext cx="4041775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30820CF-B880-4189-942D-D702A7CBA730}" type="datetimeFigureOut">
              <a:rPr lang="zh-CN" altLang="en-US" smtClean="0"/>
              <a:t>2018/9/24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87790" y="680477"/>
            <a:ext cx="45720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7" name="矩形 16"/>
          <p:cNvSpPr/>
          <p:nvPr/>
        </p:nvSpPr>
        <p:spPr>
          <a:xfrm>
            <a:off x="47305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8" name="矩形 17"/>
          <p:cNvSpPr/>
          <p:nvPr/>
        </p:nvSpPr>
        <p:spPr>
          <a:xfrm>
            <a:off x="28252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9" name="矩形 18"/>
          <p:cNvSpPr/>
          <p:nvPr/>
        </p:nvSpPr>
        <p:spPr>
          <a:xfrm>
            <a:off x="0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0" name="矩形 19"/>
          <p:cNvSpPr/>
          <p:nvPr/>
        </p:nvSpPr>
        <p:spPr>
          <a:xfrm flipH="1">
            <a:off x="149770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1" name="矩形 20"/>
          <p:cNvSpPr/>
          <p:nvPr/>
        </p:nvSpPr>
        <p:spPr>
          <a:xfrm flipH="1">
            <a:off x="189341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2" name="矩形 21"/>
          <p:cNvSpPr/>
          <p:nvPr/>
        </p:nvSpPr>
        <p:spPr>
          <a:xfrm flipH="1">
            <a:off x="226682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9" name="矩形 28"/>
          <p:cNvSpPr/>
          <p:nvPr/>
        </p:nvSpPr>
        <p:spPr>
          <a:xfrm flipH="1">
            <a:off x="254934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30" name="矩形 29"/>
          <p:cNvSpPr/>
          <p:nvPr/>
        </p:nvSpPr>
        <p:spPr>
          <a:xfrm>
            <a:off x="278710" y="680477"/>
            <a:ext cx="36576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512064"/>
            <a:ext cx="7772400" cy="914400"/>
          </a:xfrm>
        </p:spPr>
        <p:txBody>
          <a:bodyPr/>
          <a:lstStyle>
            <a:lvl1pPr>
              <a:defRPr sz="4000" cap="none" baseline="0"/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30820CF-B880-4189-942D-D702A7CBA730}" type="datetimeFigureOut">
              <a:rPr lang="zh-CN" altLang="en-US" smtClean="0"/>
              <a:t>2018/9/24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30820CF-B880-4189-942D-D702A7CBA730}" type="datetimeFigureOut">
              <a:rPr lang="zh-CN" altLang="en-US" smtClean="0"/>
              <a:t>2018/9/24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273050"/>
            <a:ext cx="8229600" cy="1162050"/>
          </a:xfrm>
        </p:spPr>
        <p:txBody>
          <a:bodyPr anchor="ctr"/>
          <a:lstStyle>
            <a:lvl1pPr algn="l">
              <a:buNone/>
              <a:defRPr sz="3600" b="0"/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685800" y="1435100"/>
            <a:ext cx="2514600" cy="4572000"/>
          </a:xfrm>
        </p:spPr>
        <p:txBody>
          <a:bodyPr/>
          <a:lstStyle>
            <a:lvl1pPr marL="54864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3429000" y="1435100"/>
            <a:ext cx="54864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30820CF-B880-4189-942D-D702A7CBA730}" type="datetimeFigureOut">
              <a:rPr lang="zh-CN" altLang="en-US" smtClean="0"/>
              <a:t>2018/9/24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368032" y="0"/>
            <a:ext cx="8778240" cy="1878037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9" name="直接连接符 8"/>
          <p:cNvCxnSpPr/>
          <p:nvPr/>
        </p:nvCxnSpPr>
        <p:spPr>
          <a:xfrm flipV="1">
            <a:off x="363195" y="1885028"/>
            <a:ext cx="8782622" cy="0"/>
          </a:xfrm>
          <a:prstGeom prst="line">
            <a:avLst/>
          </a:prstGeom>
          <a:noFill/>
          <a:ln w="19050" cap="flat" cmpd="sng" algn="ctr">
            <a:solidFill>
              <a:srgbClr val="FFFFFF">
                <a:alpha val="100000"/>
              </a:srgbClr>
            </a:soli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" name="组合 9"/>
          <p:cNvGrpSpPr/>
          <p:nvPr/>
        </p:nvGrpSpPr>
        <p:grpSpPr>
          <a:xfrm rot="5400000">
            <a:off x="8514581" y="1219200"/>
            <a:ext cx="132763" cy="128466"/>
            <a:chOff x="6668087" y="1297746"/>
            <a:chExt cx="161840" cy="156602"/>
          </a:xfrm>
        </p:grpSpPr>
        <p:cxnSp>
          <p:nvCxnSpPr>
            <p:cNvPr id="15" name="直接连接符 14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 bwMode="grayWhite">
          <a:xfrm>
            <a:off x="914400" y="441251"/>
            <a:ext cx="6858000" cy="701749"/>
          </a:xfrm>
        </p:spPr>
        <p:txBody>
          <a:bodyPr anchor="b"/>
          <a:lstStyle>
            <a:lvl1pPr algn="l">
              <a:buNone/>
              <a:defRPr sz="2100" b="0"/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68032" y="1893781"/>
            <a:ext cx="8778240" cy="4960144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zh-CN" altLang="en-US" smtClean="0"/>
              <a:t>单击图标添加图片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 bwMode="grayWhite">
          <a:xfrm>
            <a:off x="914400" y="1150144"/>
            <a:ext cx="6858000" cy="685800"/>
          </a:xfrm>
        </p:spPr>
        <p:txBody>
          <a:bodyPr/>
          <a:lstStyle>
            <a:lvl1pPr marL="27432" indent="0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grpSp>
        <p:nvGrpSpPr>
          <p:cNvPr id="14" name="组合 13"/>
          <p:cNvGrpSpPr/>
          <p:nvPr/>
        </p:nvGrpSpPr>
        <p:grpSpPr>
          <a:xfrm rot="5400000">
            <a:off x="8666981" y="1371600"/>
            <a:ext cx="132763" cy="128466"/>
            <a:chOff x="6668087" y="1297746"/>
            <a:chExt cx="161840" cy="156602"/>
          </a:xfrm>
        </p:grpSpPr>
        <p:cxnSp>
          <p:nvCxnSpPr>
            <p:cNvPr id="11" name="直接连接符 10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组合 17"/>
          <p:cNvGrpSpPr/>
          <p:nvPr/>
        </p:nvGrpSpPr>
        <p:grpSpPr>
          <a:xfrm rot="5400000">
            <a:off x="8320088" y="1474763"/>
            <a:ext cx="132763" cy="128466"/>
            <a:chOff x="6668087" y="1297746"/>
            <a:chExt cx="161840" cy="156602"/>
          </a:xfrm>
        </p:grpSpPr>
        <p:cxnSp>
          <p:nvCxnSpPr>
            <p:cNvPr id="19" name="直接连接符 18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477000" y="55499"/>
            <a:ext cx="2133600" cy="365125"/>
          </a:xfrm>
        </p:spPr>
        <p:txBody>
          <a:bodyPr/>
          <a:lstStyle>
            <a:extLst/>
          </a:lstStyle>
          <a:p>
            <a:fld id="{530820CF-B880-4189-942D-D702A7CBA730}" type="datetimeFigureOut">
              <a:rPr lang="zh-CN" altLang="en-US" smtClean="0"/>
              <a:t>2018/9/24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914400" y="55499"/>
            <a:ext cx="5562600" cy="365125"/>
          </a:xfrm>
        </p:spPr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55499"/>
            <a:ext cx="457200" cy="365125"/>
          </a:xfrm>
        </p:spPr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30820CF-B880-4189-942D-D702A7CBA730}" type="datetimeFigureOut">
              <a:rPr lang="zh-CN" altLang="en-US" smtClean="0"/>
              <a:t>2018/9/24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981200" cy="5851525"/>
          </a:xfrm>
        </p:spPr>
        <p:txBody>
          <a:bodyPr vert="eaVert" anchor="ctr"/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58674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30820CF-B880-4189-942D-D702A7CBA730}" type="datetimeFigureOut">
              <a:rPr lang="zh-CN" altLang="en-US" smtClean="0"/>
              <a:t>2018/9/24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9880000"/>
      </p:ext>
    </p:extLst>
  </p:cSld>
  <p:clrMapOvr>
    <a:masterClrMapping/>
  </p:clrMapOvr>
  <p:transition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-1"/>
            <a:ext cx="365760" cy="6854456"/>
          </a:xfrm>
          <a:prstGeom prst="rect">
            <a:avLst/>
          </a:prstGeom>
          <a:solidFill>
            <a:srgbClr val="FFFFF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>
            <a:off x="255291" y="5047394"/>
            <a:ext cx="73152" cy="169164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>
            <a:off x="255291" y="4796819"/>
            <a:ext cx="73152" cy="2286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255291" y="4637685"/>
            <a:ext cx="73152" cy="137160"/>
          </a:xfrm>
          <a:prstGeom prst="rect">
            <a:avLst/>
          </a:prstGeom>
          <a:solidFill>
            <a:schemeClr val="bg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>
            <a:off x="255291" y="4542559"/>
            <a:ext cx="73152" cy="7315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2" name="矩形 11"/>
          <p:cNvSpPr/>
          <p:nvPr/>
        </p:nvSpPr>
        <p:spPr>
          <a:xfrm>
            <a:off x="309558" y="680477"/>
            <a:ext cx="45720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5" name="矩形 14"/>
          <p:cNvSpPr/>
          <p:nvPr/>
        </p:nvSpPr>
        <p:spPr>
          <a:xfrm>
            <a:off x="269073" y="680477"/>
            <a:ext cx="27432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6" name="矩形 15"/>
          <p:cNvSpPr/>
          <p:nvPr/>
        </p:nvSpPr>
        <p:spPr>
          <a:xfrm>
            <a:off x="250020" y="680477"/>
            <a:ext cx="9144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7" name="矩形 16"/>
          <p:cNvSpPr/>
          <p:nvPr/>
        </p:nvSpPr>
        <p:spPr>
          <a:xfrm>
            <a:off x="221768" y="680477"/>
            <a:ext cx="9144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2" name="标题占位符 21"/>
          <p:cNvSpPr>
            <a:spLocks noGrp="1"/>
          </p:cNvSpPr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</p:spPr>
        <p:txBody>
          <a:bodyPr vert="horz" anchor="t">
            <a:noAutofit/>
          </a:bodyPr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"/>
          </p:nvPr>
        </p:nvSpPr>
        <p:spPr>
          <a:xfrm>
            <a:off x="914400" y="1783560"/>
            <a:ext cx="7772400" cy="4572000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smtClean="0"/>
              <a:t>第二级</a:t>
            </a:r>
          </a:p>
          <a:p>
            <a:pPr lvl="2" eaLnBrk="1" latinLnBrk="0" hangingPunct="1"/>
            <a:r>
              <a:rPr kumimoji="0" lang="zh-CN" altLang="en-US" smtClean="0"/>
              <a:t>第三级</a:t>
            </a:r>
          </a:p>
          <a:p>
            <a:pPr lvl="3" eaLnBrk="1" latinLnBrk="0" hangingPunct="1"/>
            <a:r>
              <a:rPr kumimoji="0" lang="zh-CN" altLang="en-US" smtClean="0"/>
              <a:t>第四级</a:t>
            </a:r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2"/>
          </p:nvPr>
        </p:nvSpPr>
        <p:spPr>
          <a:xfrm>
            <a:off x="64770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530820CF-B880-4189-942D-D702A7CBA730}" type="datetimeFigureOut">
              <a:rPr lang="zh-CN" altLang="en-US" smtClean="0"/>
              <a:t>2018/9/24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>
            <a:off x="914400" y="6416675"/>
            <a:ext cx="55626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endParaRPr lang="zh-CN" altLang="en-US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4"/>
          </p:nvPr>
        </p:nvSpPr>
        <p:spPr>
          <a:xfrm>
            <a:off x="8610600" y="6416675"/>
            <a:ext cx="4572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 spc="-100" baseline="0">
          <a:solidFill>
            <a:schemeClr val="tx2">
              <a:satMod val="200000"/>
            </a:schemeClr>
          </a:solidFill>
          <a:latin typeface="+mj-lt"/>
          <a:ea typeface="+mj-ea"/>
          <a:cs typeface="+mj-cs"/>
        </a:defRPr>
      </a:lvl1pPr>
      <a:extLst/>
    </p:titleStyle>
    <p:bodyStyle>
      <a:lvl1pPr marL="411480" indent="-342900" algn="l" rtl="0" eaLnBrk="1" latinLnBrk="0" hangingPunct="1">
        <a:spcBef>
          <a:spcPts val="700"/>
        </a:spcBef>
        <a:buClr>
          <a:schemeClr val="tx2"/>
        </a:buClr>
        <a:buSzPct val="95000"/>
        <a:buFont typeface="Wingdings"/>
        <a:buChar char="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40664" indent="-28575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2"/>
        </a:buClr>
        <a:buFont typeface="Wingdings 2"/>
        <a:buChar char="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61872" indent="-228600" algn="l" rtl="0" eaLnBrk="1" latinLnBrk="0" hangingPunct="1">
        <a:spcBef>
          <a:spcPct val="20000"/>
        </a:spcBef>
        <a:buClr>
          <a:schemeClr val="accent3"/>
        </a:buClr>
        <a:buFont typeface="Wingdings 3"/>
        <a:buChar char="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14813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99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01952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93976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w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5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7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10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3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12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oleObject1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15.bin"/><Relationship Id="rId10" Type="http://schemas.openxmlformats.org/officeDocument/2006/relationships/image" Target="../media/image18.wmf"/><Relationship Id="rId4" Type="http://schemas.openxmlformats.org/officeDocument/2006/relationships/image" Target="../media/image15.wmf"/><Relationship Id="rId9" Type="http://schemas.openxmlformats.org/officeDocument/2006/relationships/oleObject" Target="../embeddings/oleObject17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Text Box 2"/>
          <p:cNvSpPr txBox="1">
            <a:spLocks noChangeArrowheads="1"/>
          </p:cNvSpPr>
          <p:nvPr/>
        </p:nvSpPr>
        <p:spPr bwMode="auto">
          <a:xfrm>
            <a:off x="179388" y="1412875"/>
            <a:ext cx="25146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1.</a:t>
            </a:r>
            <a:r>
              <a:rPr lang="zh-CN" altLang="en-US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几个概念</a:t>
            </a:r>
            <a:r>
              <a:rPr lang="zh-CN" altLang="en-US" sz="3200" b="1">
                <a:solidFill>
                  <a:schemeClr val="tx1"/>
                </a:solidFill>
                <a:ea typeface="宋体" pitchFamily="2" charset="-122"/>
              </a:rPr>
              <a:t> </a:t>
            </a:r>
          </a:p>
        </p:txBody>
      </p:sp>
      <p:grpSp>
        <p:nvGrpSpPr>
          <p:cNvPr id="169987" name="Group 3"/>
          <p:cNvGrpSpPr>
            <a:grpSpLocks/>
          </p:cNvGrpSpPr>
          <p:nvPr/>
        </p:nvGrpSpPr>
        <p:grpSpPr bwMode="auto">
          <a:xfrm>
            <a:off x="250825" y="2276475"/>
            <a:ext cx="8388350" cy="519113"/>
            <a:chOff x="158" y="1207"/>
            <a:chExt cx="5284" cy="327"/>
          </a:xfrm>
        </p:grpSpPr>
        <p:sp>
          <p:nvSpPr>
            <p:cNvPr id="169988" name="Text Box 4"/>
            <p:cNvSpPr txBox="1">
              <a:spLocks noChangeArrowheads="1"/>
            </p:cNvSpPr>
            <p:nvPr/>
          </p:nvSpPr>
          <p:spPr bwMode="auto">
            <a:xfrm>
              <a:off x="158" y="1207"/>
              <a:ext cx="52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800" b="1">
                  <a:solidFill>
                    <a:schemeClr val="tx2"/>
                  </a:solidFill>
                  <a:ea typeface="宋体" pitchFamily="2" charset="-122"/>
                </a:rPr>
                <a:t>(1) </a:t>
              </a:r>
              <a:r>
                <a:rPr lang="en-US" altLang="zh-CN" sz="2800" b="1" i="1">
                  <a:solidFill>
                    <a:schemeClr val="tx2"/>
                  </a:solidFill>
                  <a:ea typeface="宋体" pitchFamily="2" charset="-122"/>
                </a:rPr>
                <a:t>k </a:t>
              </a:r>
              <a:r>
                <a:rPr lang="zh-CN" altLang="en-US" sz="2800" b="1">
                  <a:solidFill>
                    <a:schemeClr val="tx2"/>
                  </a:solidFill>
                  <a:ea typeface="楷体_GB2312" pitchFamily="49" charset="-122"/>
                </a:rPr>
                <a:t>阶子式</a:t>
              </a:r>
              <a:r>
                <a:rPr lang="zh-CN" altLang="en-US" sz="2800" b="1">
                  <a:solidFill>
                    <a:schemeClr val="tx2"/>
                  </a:solidFill>
                  <a:ea typeface="宋体" pitchFamily="2" charset="-122"/>
                </a:rPr>
                <a:t>：</a:t>
              </a:r>
              <a:r>
                <a:rPr lang="zh-CN" altLang="en-US" sz="2800" b="1">
                  <a:solidFill>
                    <a:schemeClr val="tx2"/>
                  </a:solidFill>
                  <a:ea typeface="楷体_GB2312" pitchFamily="49" charset="-122"/>
                </a:rPr>
                <a:t>任选</a:t>
              </a:r>
              <a:r>
                <a:rPr lang="en-US" altLang="zh-CN" sz="2800" b="1" i="1">
                  <a:solidFill>
                    <a:schemeClr val="tx2"/>
                  </a:solidFill>
                  <a:ea typeface="宋体" pitchFamily="2" charset="-122"/>
                </a:rPr>
                <a:t>k</a:t>
              </a:r>
              <a:r>
                <a:rPr lang="zh-CN" altLang="en-US" sz="2800" b="1">
                  <a:solidFill>
                    <a:schemeClr val="tx2"/>
                  </a:solidFill>
                  <a:ea typeface="楷体_GB2312" pitchFamily="49" charset="-122"/>
                </a:rPr>
                <a:t>行</a:t>
              </a:r>
              <a:r>
                <a:rPr lang="en-US" altLang="zh-CN" sz="2800" b="1" i="1">
                  <a:solidFill>
                    <a:schemeClr val="tx2"/>
                  </a:solidFill>
                  <a:ea typeface="宋体" pitchFamily="2" charset="-122"/>
                </a:rPr>
                <a:t>k</a:t>
              </a:r>
              <a:r>
                <a:rPr lang="zh-CN" altLang="en-US" sz="2800" b="1">
                  <a:solidFill>
                    <a:schemeClr val="tx2"/>
                  </a:solidFill>
                  <a:ea typeface="楷体_GB2312" pitchFamily="49" charset="-122"/>
                </a:rPr>
                <a:t>列 </a:t>
              </a:r>
              <a:r>
                <a:rPr lang="zh-CN" altLang="en-US" sz="2800" b="1">
                  <a:solidFill>
                    <a:schemeClr val="tx2"/>
                  </a:solidFill>
                  <a:ea typeface="宋体" pitchFamily="2" charset="-122"/>
                </a:rPr>
                <a:t>       </a:t>
              </a:r>
              <a:r>
                <a:rPr lang="en-US" altLang="zh-CN" sz="2800" b="1" i="1">
                  <a:solidFill>
                    <a:schemeClr val="tx2"/>
                  </a:solidFill>
                  <a:ea typeface="宋体" pitchFamily="2" charset="-122"/>
                </a:rPr>
                <a:t>k</a:t>
              </a:r>
              <a:r>
                <a:rPr lang="zh-CN" altLang="en-US" sz="2800" b="1">
                  <a:solidFill>
                    <a:schemeClr val="tx2"/>
                  </a:solidFill>
                  <a:ea typeface="楷体_GB2312" pitchFamily="49" charset="-122"/>
                </a:rPr>
                <a:t>阶行列式，记作</a:t>
              </a:r>
              <a:r>
                <a:rPr lang="zh-CN" altLang="en-US" sz="2800" b="1">
                  <a:solidFill>
                    <a:schemeClr val="tx2"/>
                  </a:solidFill>
                  <a:ea typeface="宋体" pitchFamily="2" charset="-122"/>
                </a:rPr>
                <a:t> </a:t>
              </a:r>
              <a:r>
                <a:rPr lang="en-US" altLang="zh-CN" sz="2800" b="1" i="1">
                  <a:solidFill>
                    <a:schemeClr val="tx2"/>
                  </a:solidFill>
                  <a:ea typeface="宋体" pitchFamily="2" charset="-122"/>
                </a:rPr>
                <a:t>M .</a:t>
              </a:r>
              <a:endParaRPr lang="en-US" altLang="zh-CN" sz="2800">
                <a:solidFill>
                  <a:schemeClr val="tx2"/>
                </a:solidFill>
                <a:ea typeface="宋体" pitchFamily="2" charset="-122"/>
              </a:endParaRPr>
            </a:p>
          </p:txBody>
        </p:sp>
        <p:graphicFrame>
          <p:nvGraphicFramePr>
            <p:cNvPr id="169989" name="Object 5"/>
            <p:cNvGraphicFramePr>
              <a:graphicFrameLocks noChangeAspect="1"/>
            </p:cNvGraphicFramePr>
            <p:nvPr/>
          </p:nvGraphicFramePr>
          <p:xfrm>
            <a:off x="2789" y="1207"/>
            <a:ext cx="363" cy="2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5" name="Equation" r:id="rId3" imgW="190440" imgH="152280" progId="Equation.DSMT4">
                    <p:embed/>
                  </p:oleObj>
                </mc:Choice>
                <mc:Fallback>
                  <p:oleObj name="Equation" r:id="rId3" imgW="190440" imgH="1522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89" y="1207"/>
                          <a:ext cx="363" cy="29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69990" name="Text Box 6"/>
          <p:cNvSpPr txBox="1">
            <a:spLocks noChangeArrowheads="1"/>
          </p:cNvSpPr>
          <p:nvPr/>
        </p:nvSpPr>
        <p:spPr bwMode="auto">
          <a:xfrm>
            <a:off x="1619250" y="2997200"/>
            <a:ext cx="4464050" cy="522288"/>
          </a:xfrm>
          <a:prstGeom prst="rect">
            <a:avLst/>
          </a:prstGeom>
          <a:noFill/>
          <a:ln w="38100">
            <a:solidFill>
              <a:srgbClr val="FF99CC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8000" tIns="10800" rIns="18000">
            <a:spAutoFit/>
          </a:bodyPr>
          <a:lstStyle/>
          <a:p>
            <a:r>
              <a:rPr lang="en-US" altLang="zh-CN" sz="2800" b="1">
                <a:solidFill>
                  <a:schemeClr val="tx1"/>
                </a:solidFill>
                <a:ea typeface="宋体" pitchFamily="2" charset="-122"/>
              </a:rPr>
              <a:t>(</a:t>
            </a:r>
            <a:r>
              <a:rPr lang="en-US" altLang="zh-CN" sz="2800" b="1" i="1">
                <a:solidFill>
                  <a:schemeClr val="tx1"/>
                </a:solidFill>
                <a:ea typeface="宋体" pitchFamily="2" charset="-122"/>
              </a:rPr>
              <a:t>a</a:t>
            </a:r>
            <a:r>
              <a:rPr lang="en-US" altLang="zh-CN" sz="2800" b="1" i="1" baseline="-25000">
                <a:solidFill>
                  <a:schemeClr val="tx1"/>
                </a:solidFill>
                <a:ea typeface="宋体" pitchFamily="2" charset="-122"/>
              </a:rPr>
              <a:t>ij</a:t>
            </a:r>
            <a:r>
              <a:rPr lang="zh-CN" altLang="en-US" sz="2800" b="1">
                <a:solidFill>
                  <a:schemeClr val="tx1"/>
                </a:solidFill>
                <a:ea typeface="楷体_GB2312" pitchFamily="49" charset="-122"/>
              </a:rPr>
              <a:t>是行列式的一阶子式</a:t>
            </a:r>
            <a:r>
              <a:rPr lang="en-US" altLang="zh-CN" sz="2800" b="1">
                <a:solidFill>
                  <a:schemeClr val="tx1"/>
                </a:solidFill>
                <a:ea typeface="宋体" pitchFamily="2" charset="-122"/>
              </a:rPr>
              <a:t>)</a:t>
            </a:r>
          </a:p>
        </p:txBody>
      </p:sp>
      <p:sp>
        <p:nvSpPr>
          <p:cNvPr id="169991" name="Text Box 7"/>
          <p:cNvSpPr txBox="1">
            <a:spLocks noChangeArrowheads="1"/>
          </p:cNvSpPr>
          <p:nvPr/>
        </p:nvSpPr>
        <p:spPr bwMode="auto">
          <a:xfrm>
            <a:off x="250825" y="3573463"/>
            <a:ext cx="81724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2800" b="1">
                <a:solidFill>
                  <a:schemeClr val="tx2"/>
                </a:solidFill>
                <a:ea typeface="宋体" pitchFamily="2" charset="-122"/>
              </a:rPr>
              <a:t>(2) </a:t>
            </a:r>
            <a:r>
              <a:rPr lang="en-US" altLang="zh-CN" sz="2800" b="1" i="1">
                <a:solidFill>
                  <a:schemeClr val="tx2"/>
                </a:solidFill>
                <a:ea typeface="宋体" pitchFamily="2" charset="-122"/>
              </a:rPr>
              <a:t>k </a:t>
            </a:r>
            <a:r>
              <a:rPr lang="zh-CN" altLang="en-US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阶子式的余子式：划去</a:t>
            </a:r>
            <a:r>
              <a:rPr lang="en-US" altLang="zh-CN" sz="2800" b="1" i="1">
                <a:solidFill>
                  <a:schemeClr val="tx2"/>
                </a:solidFill>
                <a:ea typeface="宋体" pitchFamily="2" charset="-122"/>
              </a:rPr>
              <a:t>k</a:t>
            </a:r>
            <a:r>
              <a:rPr lang="zh-CN" altLang="en-US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阶子式所在的</a:t>
            </a:r>
            <a:r>
              <a:rPr lang="en-US" altLang="zh-CN" sz="2800" b="1" i="1">
                <a:solidFill>
                  <a:schemeClr val="tx2"/>
                </a:solidFill>
                <a:ea typeface="宋体" pitchFamily="2" charset="-122"/>
              </a:rPr>
              <a:t>k</a:t>
            </a:r>
            <a:r>
              <a:rPr lang="zh-CN" altLang="en-US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行</a:t>
            </a:r>
            <a:r>
              <a:rPr lang="en-US" altLang="zh-CN" sz="2800" b="1" i="1">
                <a:solidFill>
                  <a:schemeClr val="tx2"/>
                </a:solidFill>
                <a:ea typeface="宋体" pitchFamily="2" charset="-122"/>
              </a:rPr>
              <a:t>k</a:t>
            </a:r>
            <a:r>
              <a:rPr lang="zh-CN" altLang="en-US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列 </a:t>
            </a:r>
          </a:p>
        </p:txBody>
      </p:sp>
      <p:graphicFrame>
        <p:nvGraphicFramePr>
          <p:cNvPr id="169992" name="Object 8"/>
          <p:cNvGraphicFramePr>
            <a:graphicFrameLocks noChangeAspect="1"/>
          </p:cNvGraphicFramePr>
          <p:nvPr/>
        </p:nvGraphicFramePr>
        <p:xfrm>
          <a:off x="3924300" y="4294188"/>
          <a:ext cx="685800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6" name="Equation" r:id="rId5" imgW="190440" imgH="152280" progId="Equation.DSMT4">
                  <p:embed/>
                </p:oleObj>
              </mc:Choice>
              <mc:Fallback>
                <p:oleObj name="Equation" r:id="rId5" imgW="190440" imgH="152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4300" y="4294188"/>
                        <a:ext cx="685800" cy="549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9993" name="Text Box 9"/>
          <p:cNvSpPr txBox="1">
            <a:spLocks noChangeArrowheads="1"/>
          </p:cNvSpPr>
          <p:nvPr/>
        </p:nvSpPr>
        <p:spPr bwMode="auto">
          <a:xfrm>
            <a:off x="4716463" y="4294188"/>
            <a:ext cx="38163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2800" b="1" i="1">
                <a:solidFill>
                  <a:schemeClr val="tx2"/>
                </a:solidFill>
                <a:ea typeface="宋体" pitchFamily="2" charset="-122"/>
              </a:rPr>
              <a:t>n</a:t>
            </a:r>
            <a:r>
              <a:rPr lang="zh-CN" altLang="en-US" sz="2800" b="1">
                <a:solidFill>
                  <a:schemeClr val="tx2"/>
                </a:solidFill>
                <a:ea typeface="宋体" pitchFamily="2" charset="-122"/>
              </a:rPr>
              <a:t>－</a:t>
            </a:r>
            <a:r>
              <a:rPr lang="en-US" altLang="zh-CN" sz="2800" b="1" i="1">
                <a:solidFill>
                  <a:schemeClr val="tx2"/>
                </a:solidFill>
                <a:ea typeface="宋体" pitchFamily="2" charset="-122"/>
              </a:rPr>
              <a:t>k</a:t>
            </a:r>
            <a:r>
              <a:rPr lang="zh-CN" altLang="en-US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阶行列式，记</a:t>
            </a:r>
            <a:r>
              <a:rPr kumimoji="0" lang="en-US" altLang="zh-CN" sz="2800" b="1" i="1">
                <a:solidFill>
                  <a:schemeClr val="tx1"/>
                </a:solidFill>
                <a:ea typeface="宋体" pitchFamily="2" charset="-122"/>
              </a:rPr>
              <a:t>M </a:t>
            </a:r>
            <a:r>
              <a:rPr kumimoji="0" lang="en-US" altLang="zh-CN" sz="2800" b="1" baseline="10000">
                <a:solidFill>
                  <a:schemeClr val="tx1"/>
                </a:solidFill>
                <a:latin typeface="Symbol" pitchFamily="18" charset="2"/>
                <a:ea typeface="宋体" pitchFamily="2" charset="-122"/>
              </a:rPr>
              <a:t>¢</a:t>
            </a:r>
            <a:endParaRPr lang="en-US" altLang="zh-CN" sz="2800" b="1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169994" name="Text Box 10"/>
          <p:cNvSpPr txBox="1">
            <a:spLocks noChangeArrowheads="1"/>
          </p:cNvSpPr>
          <p:nvPr/>
        </p:nvSpPr>
        <p:spPr bwMode="auto">
          <a:xfrm>
            <a:off x="250825" y="4868863"/>
            <a:ext cx="47879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2800" b="1">
                <a:solidFill>
                  <a:schemeClr val="tx2"/>
                </a:solidFill>
                <a:ea typeface="宋体" pitchFamily="2" charset="-122"/>
              </a:rPr>
              <a:t>(3) </a:t>
            </a:r>
            <a:r>
              <a:rPr lang="en-US" altLang="zh-CN" sz="2800" b="1" i="1">
                <a:solidFill>
                  <a:schemeClr val="tx2"/>
                </a:solidFill>
                <a:ea typeface="宋体" pitchFamily="2" charset="-122"/>
              </a:rPr>
              <a:t>k </a:t>
            </a:r>
            <a:r>
              <a:rPr lang="zh-CN" altLang="en-US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阶子式的代数余子式</a:t>
            </a:r>
            <a:r>
              <a:rPr lang="en-US" altLang="zh-CN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:</a:t>
            </a:r>
            <a:r>
              <a:rPr lang="en-US" altLang="zh-CN" sz="3200" b="1">
                <a:solidFill>
                  <a:schemeClr val="tx2"/>
                </a:solidFill>
                <a:ea typeface="宋体" pitchFamily="2" charset="-122"/>
              </a:rPr>
              <a:t> </a:t>
            </a:r>
          </a:p>
        </p:txBody>
      </p:sp>
      <p:graphicFrame>
        <p:nvGraphicFramePr>
          <p:cNvPr id="169995" name="Object 11"/>
          <p:cNvGraphicFramePr>
            <a:graphicFrameLocks noChangeAspect="1"/>
          </p:cNvGraphicFramePr>
          <p:nvPr/>
        </p:nvGraphicFramePr>
        <p:xfrm>
          <a:off x="4211638" y="5534025"/>
          <a:ext cx="3960812" cy="592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7" name="Equation" r:id="rId7" imgW="1523880" imgH="228600" progId="Equation.DSMT4">
                  <p:embed/>
                </p:oleObj>
              </mc:Choice>
              <mc:Fallback>
                <p:oleObj name="Equation" r:id="rId7" imgW="15238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1638" y="5534025"/>
                        <a:ext cx="3960812" cy="5921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9996" name="Rectangle 12"/>
          <p:cNvSpPr>
            <a:spLocks noChangeArrowheads="1"/>
          </p:cNvSpPr>
          <p:nvPr/>
        </p:nvSpPr>
        <p:spPr bwMode="auto">
          <a:xfrm>
            <a:off x="250825" y="476250"/>
            <a:ext cx="417671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 sz="3200" b="1" dirty="0" smtClean="0">
                <a:latin typeface="Arial" charset="0"/>
                <a:ea typeface="楷体_GB2312" pitchFamily="49" charset="-122"/>
              </a:rPr>
              <a:t>补充</a:t>
            </a:r>
            <a:r>
              <a:rPr lang="zh-CN" altLang="en-US" sz="3200" b="1" dirty="0" smtClean="0">
                <a:solidFill>
                  <a:schemeClr val="tx1"/>
                </a:solidFill>
                <a:latin typeface="Arial" charset="0"/>
                <a:ea typeface="楷体_GB2312" pitchFamily="49" charset="-122"/>
              </a:rPr>
              <a:t>、</a:t>
            </a:r>
            <a:r>
              <a:rPr lang="zh-CN" altLang="en-US" sz="3200" b="1" dirty="0">
                <a:solidFill>
                  <a:schemeClr val="tx1"/>
                </a:solidFill>
                <a:latin typeface="Arial" charset="0"/>
                <a:ea typeface="楷体_GB2312" pitchFamily="49" charset="-122"/>
              </a:rPr>
              <a:t>拉普拉斯定理</a:t>
            </a:r>
            <a:r>
              <a:rPr lang="zh-CN" altLang="en-US" sz="3200" b="1" baseline="50000" dirty="0">
                <a:solidFill>
                  <a:schemeClr val="tx1"/>
                </a:solidFill>
                <a:latin typeface="Arial" charset="0"/>
                <a:ea typeface="宋体" pitchFamily="2" charset="-122"/>
              </a:rPr>
              <a:t>＊</a:t>
            </a:r>
          </a:p>
        </p:txBody>
      </p:sp>
    </p:spTree>
    <p:extLst>
      <p:ext uri="{BB962C8B-B14F-4D97-AF65-F5344CB8AC3E}">
        <p14:creationId xmlns:p14="http://schemas.microsoft.com/office/powerpoint/2010/main" val="34349028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9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169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9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9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69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69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69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69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986" grpId="0" autoUpdateAnimBg="0"/>
      <p:bldP spid="169990" grpId="0" animBg="1" autoUpdateAnimBg="0"/>
      <p:bldP spid="169991" grpId="0" autoUpdateAnimBg="0"/>
      <p:bldP spid="169993" grpId="0" autoUpdateAnimBg="0"/>
      <p:bldP spid="169994" grpId="0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Text Box 2"/>
          <p:cNvSpPr txBox="1">
            <a:spLocks noChangeArrowheads="1"/>
          </p:cNvSpPr>
          <p:nvPr/>
        </p:nvSpPr>
        <p:spPr bwMode="auto">
          <a:xfrm>
            <a:off x="395288" y="5302250"/>
            <a:ext cx="83169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800">
                <a:solidFill>
                  <a:schemeClr val="tx1"/>
                </a:solidFill>
                <a:latin typeface="华文行楷" pitchFamily="2" charset="-122"/>
                <a:ea typeface="华文行楷" pitchFamily="2" charset="-122"/>
              </a:rPr>
              <a:t>注</a:t>
            </a:r>
            <a:r>
              <a:rPr lang="en-US" altLang="zh-CN" sz="2800">
                <a:solidFill>
                  <a:schemeClr val="tx1"/>
                </a:solidFill>
                <a:latin typeface="华文行楷" pitchFamily="2" charset="-122"/>
                <a:ea typeface="华文行楷" pitchFamily="2" charset="-122"/>
              </a:rPr>
              <a:t>2:</a:t>
            </a:r>
            <a:r>
              <a:rPr lang="zh-CN" altLang="en-US" sz="2800">
                <a:solidFill>
                  <a:schemeClr val="tx1"/>
                </a:solidFill>
                <a:latin typeface="华文行楷" pitchFamily="2" charset="-122"/>
                <a:ea typeface="华文行楷" pitchFamily="2" charset="-122"/>
              </a:rPr>
              <a:t>行列式按行</a:t>
            </a:r>
            <a:r>
              <a:rPr lang="en-US" altLang="zh-CN" sz="2800">
                <a:solidFill>
                  <a:schemeClr val="tx1"/>
                </a:solidFill>
                <a:latin typeface="华文行楷" pitchFamily="2" charset="-122"/>
                <a:ea typeface="华文行楷" pitchFamily="2" charset="-122"/>
              </a:rPr>
              <a:t>(</a:t>
            </a:r>
            <a:r>
              <a:rPr lang="zh-CN" altLang="en-US" sz="2800">
                <a:solidFill>
                  <a:schemeClr val="tx1"/>
                </a:solidFill>
                <a:latin typeface="华文行楷" pitchFamily="2" charset="-122"/>
                <a:ea typeface="华文行楷" pitchFamily="2" charset="-122"/>
              </a:rPr>
              <a:t>列</a:t>
            </a:r>
            <a:r>
              <a:rPr lang="en-US" altLang="zh-CN" sz="2800">
                <a:solidFill>
                  <a:schemeClr val="tx1"/>
                </a:solidFill>
                <a:latin typeface="华文行楷" pitchFamily="2" charset="-122"/>
                <a:ea typeface="华文行楷" pitchFamily="2" charset="-122"/>
              </a:rPr>
              <a:t>)</a:t>
            </a:r>
            <a:r>
              <a:rPr lang="zh-CN" altLang="en-US" sz="2800">
                <a:solidFill>
                  <a:schemeClr val="tx1"/>
                </a:solidFill>
                <a:latin typeface="华文行楷" pitchFamily="2" charset="-122"/>
                <a:ea typeface="华文行楷" pitchFamily="2" charset="-122"/>
              </a:rPr>
              <a:t>展开是拉普拉斯定理 </a:t>
            </a:r>
            <a:r>
              <a:rPr lang="en-US" altLang="zh-CN" sz="2800" i="1">
                <a:solidFill>
                  <a:schemeClr val="tx1"/>
                </a:solidFill>
                <a:ea typeface="华文行楷" pitchFamily="2" charset="-122"/>
              </a:rPr>
              <a:t>k</a:t>
            </a:r>
            <a:r>
              <a:rPr lang="en-US" altLang="zh-CN" sz="2800">
                <a:solidFill>
                  <a:schemeClr val="tx1"/>
                </a:solidFill>
                <a:latin typeface="华文行楷" pitchFamily="2" charset="-122"/>
                <a:ea typeface="华文行楷" pitchFamily="2" charset="-122"/>
              </a:rPr>
              <a:t>=</a:t>
            </a:r>
            <a:r>
              <a:rPr lang="en-US" altLang="zh-CN" sz="2800">
                <a:solidFill>
                  <a:schemeClr val="tx1"/>
                </a:solidFill>
                <a:ea typeface="华文行楷" pitchFamily="2" charset="-122"/>
              </a:rPr>
              <a:t>1</a:t>
            </a:r>
            <a:r>
              <a:rPr lang="zh-CN" altLang="en-US" sz="2800">
                <a:solidFill>
                  <a:schemeClr val="tx1"/>
                </a:solidFill>
                <a:latin typeface="华文行楷" pitchFamily="2" charset="-122"/>
                <a:ea typeface="华文行楷" pitchFamily="2" charset="-122"/>
              </a:rPr>
              <a:t>的情形</a:t>
            </a:r>
          </a:p>
        </p:txBody>
      </p:sp>
      <p:sp>
        <p:nvSpPr>
          <p:cNvPr id="171011" name="Text Box 3"/>
          <p:cNvSpPr txBox="1">
            <a:spLocks noChangeArrowheads="1"/>
          </p:cNvSpPr>
          <p:nvPr/>
        </p:nvSpPr>
        <p:spPr bwMode="auto">
          <a:xfrm>
            <a:off x="250825" y="404813"/>
            <a:ext cx="57515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2. </a:t>
            </a:r>
            <a:r>
              <a:rPr lang="zh-CN" altLang="en-US" sz="28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拉普拉斯定理</a:t>
            </a:r>
            <a:r>
              <a:rPr lang="zh-CN" altLang="en-US" sz="2800">
                <a:solidFill>
                  <a:srgbClr val="3366FF"/>
                </a:solidFill>
                <a:latin typeface="华文行楷" pitchFamily="2" charset="-122"/>
                <a:ea typeface="华文行楷" pitchFamily="2" charset="-122"/>
              </a:rPr>
              <a:t> </a:t>
            </a:r>
          </a:p>
        </p:txBody>
      </p:sp>
      <p:sp>
        <p:nvSpPr>
          <p:cNvPr id="171012" name="Text Box 4"/>
          <p:cNvSpPr txBox="1">
            <a:spLocks noChangeArrowheads="1"/>
          </p:cNvSpPr>
          <p:nvPr/>
        </p:nvSpPr>
        <p:spPr bwMode="auto">
          <a:xfrm>
            <a:off x="0" y="1844675"/>
            <a:ext cx="8899525" cy="1031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ts val="3700"/>
              </a:lnSpc>
              <a:spcBef>
                <a:spcPct val="0"/>
              </a:spcBef>
            </a:pPr>
            <a:r>
              <a:rPr lang="zh-CN" altLang="en-US" sz="2800" b="1">
                <a:solidFill>
                  <a:schemeClr val="tx2"/>
                </a:solidFill>
                <a:ea typeface="楷体_GB2312" pitchFamily="49" charset="-122"/>
              </a:rPr>
              <a:t>的所有</a:t>
            </a:r>
            <a:r>
              <a:rPr lang="en-US" altLang="zh-CN" sz="2800" b="1" i="1">
                <a:solidFill>
                  <a:schemeClr val="tx2"/>
                </a:solidFill>
                <a:ea typeface="宋体" pitchFamily="2" charset="-122"/>
              </a:rPr>
              <a:t>k </a:t>
            </a:r>
            <a:r>
              <a:rPr lang="zh-CN" altLang="en-US" sz="2800" b="1">
                <a:solidFill>
                  <a:schemeClr val="tx2"/>
                </a:solidFill>
                <a:ea typeface="楷体_GB2312" pitchFamily="49" charset="-122"/>
              </a:rPr>
              <a:t>阶子式</a:t>
            </a:r>
            <a:r>
              <a:rPr lang="en-US" altLang="zh-CN" sz="2800" b="1">
                <a:solidFill>
                  <a:schemeClr val="tx2"/>
                </a:solidFill>
                <a:ea typeface="宋体" pitchFamily="2" charset="-122"/>
              </a:rPr>
              <a:t>(</a:t>
            </a:r>
            <a:r>
              <a:rPr lang="zh-CN" altLang="en-US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共       个</a:t>
            </a:r>
            <a:r>
              <a:rPr lang="en-US" altLang="zh-CN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)</a:t>
            </a:r>
            <a:r>
              <a:rPr lang="zh-CN" altLang="en-US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与各自的代数余子式的乘</a:t>
            </a:r>
          </a:p>
          <a:p>
            <a:pPr>
              <a:lnSpc>
                <a:spcPts val="3700"/>
              </a:lnSpc>
              <a:spcBef>
                <a:spcPct val="0"/>
              </a:spcBef>
            </a:pPr>
            <a:r>
              <a:rPr lang="zh-CN" altLang="en-US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积之和等于</a:t>
            </a:r>
            <a:r>
              <a:rPr lang="en-US" altLang="zh-CN" sz="2800" b="1" i="1">
                <a:solidFill>
                  <a:schemeClr val="tx2"/>
                </a:solidFill>
                <a:ea typeface="宋体" pitchFamily="2" charset="-122"/>
              </a:rPr>
              <a:t>D.</a:t>
            </a:r>
          </a:p>
        </p:txBody>
      </p:sp>
      <p:graphicFrame>
        <p:nvGraphicFramePr>
          <p:cNvPr id="171013" name="Object 5"/>
          <p:cNvGraphicFramePr>
            <a:graphicFrameLocks noChangeAspect="1"/>
          </p:cNvGraphicFramePr>
          <p:nvPr/>
        </p:nvGraphicFramePr>
        <p:xfrm>
          <a:off x="3059113" y="1844675"/>
          <a:ext cx="1008062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6" name="Equation" r:id="rId3" imgW="419040" imgH="241200" progId="Equation.DSMT4">
                  <p:embed/>
                </p:oleObj>
              </mc:Choice>
              <mc:Fallback>
                <p:oleObj name="Equation" r:id="rId3" imgW="41904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3" y="1844675"/>
                        <a:ext cx="1008062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1014" name="Text Box 6"/>
          <p:cNvSpPr txBox="1">
            <a:spLocks noChangeArrowheads="1"/>
          </p:cNvSpPr>
          <p:nvPr/>
        </p:nvSpPr>
        <p:spPr bwMode="auto">
          <a:xfrm>
            <a:off x="755650" y="2997200"/>
            <a:ext cx="12588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800" b="1">
                <a:solidFill>
                  <a:schemeClr val="tx2"/>
                </a:solidFill>
                <a:ea typeface="楷体_GB2312" pitchFamily="49" charset="-122"/>
              </a:rPr>
              <a:t>即：</a:t>
            </a:r>
          </a:p>
        </p:txBody>
      </p:sp>
      <p:sp>
        <p:nvSpPr>
          <p:cNvPr id="171015" name="Rectangle 7"/>
          <p:cNvSpPr>
            <a:spLocks noChangeArrowheads="1"/>
          </p:cNvSpPr>
          <p:nvPr/>
        </p:nvSpPr>
        <p:spPr bwMode="auto">
          <a:xfrm>
            <a:off x="611188" y="1196975"/>
            <a:ext cx="81835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行列式</a:t>
            </a:r>
            <a:r>
              <a:rPr lang="en-US" altLang="zh-CN" sz="2800" b="1" i="1">
                <a:solidFill>
                  <a:schemeClr val="tx2"/>
                </a:solidFill>
                <a:ea typeface="宋体" pitchFamily="2" charset="-122"/>
              </a:rPr>
              <a:t>D</a:t>
            </a:r>
            <a:r>
              <a:rPr lang="zh-CN" altLang="en-US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中任意选定</a:t>
            </a:r>
            <a:r>
              <a:rPr lang="en-US" altLang="zh-CN" sz="2800" b="1" i="1">
                <a:solidFill>
                  <a:schemeClr val="tx2"/>
                </a:solidFill>
                <a:ea typeface="宋体" pitchFamily="2" charset="-122"/>
              </a:rPr>
              <a:t>k</a:t>
            </a:r>
            <a:r>
              <a:rPr lang="zh-CN" altLang="en-US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行</a:t>
            </a:r>
            <a:r>
              <a:rPr lang="en-US" altLang="zh-CN" sz="2800" b="1">
                <a:solidFill>
                  <a:schemeClr val="tx2"/>
                </a:solidFill>
                <a:ea typeface="宋体" pitchFamily="2" charset="-122"/>
              </a:rPr>
              <a:t>(1≤</a:t>
            </a:r>
            <a:r>
              <a:rPr lang="en-US" altLang="zh-CN" sz="2800" b="1" i="1">
                <a:solidFill>
                  <a:schemeClr val="tx2"/>
                </a:solidFill>
                <a:ea typeface="宋体" pitchFamily="2" charset="-122"/>
              </a:rPr>
              <a:t>k</a:t>
            </a:r>
            <a:r>
              <a:rPr lang="en-US" altLang="zh-CN" sz="2800" b="1">
                <a:solidFill>
                  <a:schemeClr val="tx2"/>
                </a:solidFill>
                <a:ea typeface="宋体" pitchFamily="2" charset="-122"/>
              </a:rPr>
              <a:t>≤</a:t>
            </a:r>
            <a:r>
              <a:rPr lang="en-US" altLang="zh-CN" sz="2800" b="1" i="1">
                <a:solidFill>
                  <a:schemeClr val="tx2"/>
                </a:solidFill>
                <a:ea typeface="宋体" pitchFamily="2" charset="-122"/>
              </a:rPr>
              <a:t>n</a:t>
            </a:r>
            <a:r>
              <a:rPr lang="en-US" altLang="zh-CN" sz="2800" b="1">
                <a:solidFill>
                  <a:schemeClr val="tx2"/>
                </a:solidFill>
                <a:ea typeface="宋体" pitchFamily="2" charset="-122"/>
              </a:rPr>
              <a:t>)</a:t>
            </a:r>
            <a:r>
              <a:rPr lang="en-US" altLang="zh-CN" sz="2800" b="1">
                <a:solidFill>
                  <a:schemeClr val="tx2"/>
                </a:solidFill>
                <a:latin typeface="宋体" pitchFamily="2" charset="-122"/>
                <a:ea typeface="宋体" pitchFamily="2" charset="-122"/>
              </a:rPr>
              <a:t>,</a:t>
            </a:r>
            <a:r>
              <a:rPr lang="zh-CN" altLang="en-US" sz="2800" b="1">
                <a:solidFill>
                  <a:schemeClr val="tx2"/>
                </a:solidFill>
                <a:ea typeface="楷体_GB2312" pitchFamily="49" charset="-122"/>
              </a:rPr>
              <a:t>这</a:t>
            </a:r>
            <a:r>
              <a:rPr lang="en-US" altLang="zh-CN" sz="2800" b="1" i="1">
                <a:solidFill>
                  <a:schemeClr val="tx2"/>
                </a:solidFill>
                <a:ea typeface="宋体" pitchFamily="2" charset="-122"/>
              </a:rPr>
              <a:t>k</a:t>
            </a:r>
            <a:r>
              <a:rPr lang="zh-CN" altLang="en-US" sz="2800" b="1">
                <a:solidFill>
                  <a:schemeClr val="tx2"/>
                </a:solidFill>
                <a:ea typeface="楷体_GB2312" pitchFamily="49" charset="-122"/>
              </a:rPr>
              <a:t>行元素组成</a:t>
            </a:r>
            <a:endParaRPr lang="zh-CN" altLang="en-US" sz="2800" b="1" i="1">
              <a:solidFill>
                <a:schemeClr val="tx2"/>
              </a:solidFill>
              <a:ea typeface="楷体_GB2312" pitchFamily="49" charset="-122"/>
            </a:endParaRPr>
          </a:p>
        </p:txBody>
      </p:sp>
      <p:sp>
        <p:nvSpPr>
          <p:cNvPr id="171016" name="Text Box 8"/>
          <p:cNvSpPr txBox="1">
            <a:spLocks noChangeArrowheads="1"/>
          </p:cNvSpPr>
          <p:nvPr/>
        </p:nvSpPr>
        <p:spPr bwMode="auto">
          <a:xfrm>
            <a:off x="1258888" y="3500438"/>
            <a:ext cx="74898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800" b="1" i="1">
                <a:solidFill>
                  <a:schemeClr val="tx2"/>
                </a:solidFill>
                <a:ea typeface="宋体" pitchFamily="2" charset="-122"/>
              </a:rPr>
              <a:t>D</a:t>
            </a:r>
            <a:r>
              <a:rPr lang="zh-CN" altLang="en-US" sz="2800" b="1">
                <a:solidFill>
                  <a:schemeClr val="tx2"/>
                </a:solidFill>
                <a:ea typeface="宋体" pitchFamily="2" charset="-122"/>
              </a:rPr>
              <a:t>＝</a:t>
            </a:r>
            <a:r>
              <a:rPr lang="en-US" altLang="zh-CN" sz="2800" b="1" i="1">
                <a:solidFill>
                  <a:schemeClr val="tx2"/>
                </a:solidFill>
                <a:ea typeface="宋体" pitchFamily="2" charset="-122"/>
              </a:rPr>
              <a:t>M</a:t>
            </a:r>
            <a:r>
              <a:rPr lang="en-US" altLang="zh-CN" sz="2800" b="1" baseline="-25000">
                <a:solidFill>
                  <a:schemeClr val="tx2"/>
                </a:solidFill>
                <a:ea typeface="宋体" pitchFamily="2" charset="-122"/>
              </a:rPr>
              <a:t>1 </a:t>
            </a:r>
            <a:r>
              <a:rPr lang="en-US" altLang="zh-CN" sz="2800" b="1" i="1">
                <a:solidFill>
                  <a:schemeClr val="tx2"/>
                </a:solidFill>
                <a:ea typeface="宋体" pitchFamily="2" charset="-122"/>
              </a:rPr>
              <a:t>A</a:t>
            </a:r>
            <a:r>
              <a:rPr lang="en-US" altLang="zh-CN" sz="2800" b="1" baseline="-25000">
                <a:solidFill>
                  <a:schemeClr val="tx2"/>
                </a:solidFill>
                <a:ea typeface="宋体" pitchFamily="2" charset="-122"/>
              </a:rPr>
              <a:t>1</a:t>
            </a:r>
            <a:r>
              <a:rPr lang="zh-CN" altLang="en-US" sz="2800" b="1">
                <a:solidFill>
                  <a:schemeClr val="tx2"/>
                </a:solidFill>
                <a:ea typeface="宋体" pitchFamily="2" charset="-122"/>
              </a:rPr>
              <a:t>＋</a:t>
            </a:r>
            <a:r>
              <a:rPr lang="en-US" altLang="zh-CN" sz="2800" b="1" i="1">
                <a:solidFill>
                  <a:schemeClr val="tx2"/>
                </a:solidFill>
                <a:ea typeface="宋体" pitchFamily="2" charset="-122"/>
              </a:rPr>
              <a:t>M</a:t>
            </a:r>
            <a:r>
              <a:rPr lang="en-US" altLang="zh-CN" sz="2800" b="1" baseline="-25000">
                <a:solidFill>
                  <a:schemeClr val="tx2"/>
                </a:solidFill>
                <a:ea typeface="宋体" pitchFamily="2" charset="-122"/>
              </a:rPr>
              <a:t>2 </a:t>
            </a:r>
            <a:r>
              <a:rPr lang="en-US" altLang="zh-CN" sz="2800" b="1" i="1">
                <a:solidFill>
                  <a:schemeClr val="tx2"/>
                </a:solidFill>
                <a:ea typeface="宋体" pitchFamily="2" charset="-122"/>
              </a:rPr>
              <a:t>A</a:t>
            </a:r>
            <a:r>
              <a:rPr lang="en-US" altLang="zh-CN" sz="2800" b="1" baseline="-25000">
                <a:solidFill>
                  <a:schemeClr val="tx2"/>
                </a:solidFill>
                <a:ea typeface="宋体" pitchFamily="2" charset="-122"/>
              </a:rPr>
              <a:t>2</a:t>
            </a:r>
            <a:r>
              <a:rPr lang="zh-CN" altLang="en-US" sz="2800" b="1">
                <a:solidFill>
                  <a:schemeClr val="tx2"/>
                </a:solidFill>
                <a:ea typeface="宋体" pitchFamily="2" charset="-122"/>
              </a:rPr>
              <a:t>＋</a:t>
            </a:r>
            <a:r>
              <a:rPr lang="en-US" altLang="zh-CN" sz="2800" b="1" baseline="18000">
                <a:solidFill>
                  <a:schemeClr val="tx1"/>
                </a:solidFill>
                <a:ea typeface="宋体" pitchFamily="2" charset="-122"/>
              </a:rPr>
              <a:t>…</a:t>
            </a:r>
            <a:r>
              <a:rPr lang="zh-CN" altLang="en-US" sz="2800" b="1">
                <a:solidFill>
                  <a:schemeClr val="tx2"/>
                </a:solidFill>
                <a:ea typeface="宋体" pitchFamily="2" charset="-122"/>
              </a:rPr>
              <a:t>＋</a:t>
            </a:r>
            <a:r>
              <a:rPr lang="en-US" altLang="zh-CN" sz="2800" b="1" i="1">
                <a:solidFill>
                  <a:schemeClr val="tx2"/>
                </a:solidFill>
                <a:ea typeface="宋体" pitchFamily="2" charset="-122"/>
              </a:rPr>
              <a:t>M</a:t>
            </a:r>
            <a:r>
              <a:rPr lang="en-US" altLang="zh-CN" sz="2800" b="1" i="1" baseline="-25000">
                <a:solidFill>
                  <a:schemeClr val="tx2"/>
                </a:solidFill>
                <a:ea typeface="宋体" pitchFamily="2" charset="-122"/>
              </a:rPr>
              <a:t>t  </a:t>
            </a:r>
            <a:r>
              <a:rPr lang="en-US" altLang="zh-CN" sz="2800" b="1" i="1">
                <a:solidFill>
                  <a:schemeClr val="tx2"/>
                </a:solidFill>
                <a:ea typeface="宋体" pitchFamily="2" charset="-122"/>
              </a:rPr>
              <a:t>A</a:t>
            </a:r>
            <a:r>
              <a:rPr lang="en-US" altLang="zh-CN" sz="2800" b="1" i="1" baseline="-25000">
                <a:solidFill>
                  <a:schemeClr val="tx2"/>
                </a:solidFill>
                <a:ea typeface="宋体" pitchFamily="2" charset="-122"/>
              </a:rPr>
              <a:t>t        </a:t>
            </a:r>
            <a:r>
              <a:rPr lang="en-US" altLang="zh-CN" sz="2800" b="1">
                <a:solidFill>
                  <a:schemeClr val="tx2"/>
                </a:solidFill>
                <a:ea typeface="宋体" pitchFamily="2" charset="-122"/>
              </a:rPr>
              <a:t>(              )</a:t>
            </a:r>
          </a:p>
        </p:txBody>
      </p:sp>
      <p:graphicFrame>
        <p:nvGraphicFramePr>
          <p:cNvPr id="17101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5187840"/>
              </p:ext>
            </p:extLst>
          </p:nvPr>
        </p:nvGraphicFramePr>
        <p:xfrm>
          <a:off x="6084788" y="3500438"/>
          <a:ext cx="1079500" cy="623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7" name="Equation" r:id="rId5" imgW="419040" imgH="241200" progId="Equation.DSMT4">
                  <p:embed/>
                </p:oleObj>
              </mc:Choice>
              <mc:Fallback>
                <p:oleObj name="Equation" r:id="rId5" imgW="41904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4788" y="3500438"/>
                        <a:ext cx="1079500" cy="623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1018" name="Text Box 10"/>
          <p:cNvSpPr txBox="1">
            <a:spLocks noChangeArrowheads="1"/>
          </p:cNvSpPr>
          <p:nvPr/>
        </p:nvSpPr>
        <p:spPr bwMode="auto">
          <a:xfrm>
            <a:off x="395288" y="4581525"/>
            <a:ext cx="81724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800">
                <a:solidFill>
                  <a:schemeClr val="tx1"/>
                </a:solidFill>
                <a:latin typeface="华文行楷" pitchFamily="2" charset="-122"/>
                <a:ea typeface="华文行楷" pitchFamily="2" charset="-122"/>
              </a:rPr>
              <a:t>注</a:t>
            </a:r>
            <a:r>
              <a:rPr lang="en-US" altLang="zh-CN" sz="2800">
                <a:solidFill>
                  <a:schemeClr val="tx1"/>
                </a:solidFill>
                <a:latin typeface="华文行楷" pitchFamily="2" charset="-122"/>
                <a:ea typeface="华文行楷" pitchFamily="2" charset="-122"/>
              </a:rPr>
              <a:t>1:</a:t>
            </a:r>
            <a:r>
              <a:rPr lang="zh-CN" altLang="en-US" sz="2800">
                <a:solidFill>
                  <a:schemeClr val="tx1"/>
                </a:solidFill>
                <a:latin typeface="华文行楷" pitchFamily="2" charset="-122"/>
                <a:ea typeface="华文行楷" pitchFamily="2" charset="-122"/>
              </a:rPr>
              <a:t>拉普拉斯定理是将行列式按某</a:t>
            </a:r>
            <a:r>
              <a:rPr lang="en-US" altLang="zh-CN" sz="2800" i="1">
                <a:solidFill>
                  <a:schemeClr val="tx1"/>
                </a:solidFill>
                <a:ea typeface="华文行楷" pitchFamily="2" charset="-122"/>
              </a:rPr>
              <a:t>k</a:t>
            </a:r>
            <a:r>
              <a:rPr lang="zh-CN" altLang="en-US" sz="2800">
                <a:solidFill>
                  <a:schemeClr val="tx1"/>
                </a:solidFill>
                <a:latin typeface="华文行楷" pitchFamily="2" charset="-122"/>
                <a:ea typeface="华文行楷" pitchFamily="2" charset="-122"/>
              </a:rPr>
              <a:t>行</a:t>
            </a:r>
            <a:r>
              <a:rPr lang="en-US" altLang="zh-CN" sz="2800">
                <a:solidFill>
                  <a:schemeClr val="tx1"/>
                </a:solidFill>
                <a:latin typeface="华文行楷" pitchFamily="2" charset="-122"/>
                <a:ea typeface="华文行楷" pitchFamily="2" charset="-122"/>
              </a:rPr>
              <a:t>(</a:t>
            </a:r>
            <a:r>
              <a:rPr lang="zh-CN" altLang="en-US" sz="2800">
                <a:solidFill>
                  <a:schemeClr val="tx1"/>
                </a:solidFill>
                <a:latin typeface="华文行楷" pitchFamily="2" charset="-122"/>
                <a:ea typeface="华文行楷" pitchFamily="2" charset="-122"/>
              </a:rPr>
              <a:t>列</a:t>
            </a:r>
            <a:r>
              <a:rPr lang="en-US" altLang="zh-CN" sz="2800">
                <a:solidFill>
                  <a:schemeClr val="tx1"/>
                </a:solidFill>
                <a:latin typeface="华文行楷" pitchFamily="2" charset="-122"/>
                <a:ea typeface="华文行楷" pitchFamily="2" charset="-122"/>
              </a:rPr>
              <a:t>)</a:t>
            </a:r>
            <a:r>
              <a:rPr lang="zh-CN" altLang="en-US" sz="2800">
                <a:solidFill>
                  <a:schemeClr val="tx1"/>
                </a:solidFill>
                <a:latin typeface="华文行楷" pitchFamily="2" charset="-122"/>
                <a:ea typeface="华文行楷" pitchFamily="2" charset="-122"/>
              </a:rPr>
              <a:t>展开</a:t>
            </a:r>
          </a:p>
        </p:txBody>
      </p:sp>
    </p:spTree>
    <p:extLst>
      <p:ext uri="{BB962C8B-B14F-4D97-AF65-F5344CB8AC3E}">
        <p14:creationId xmlns:p14="http://schemas.microsoft.com/office/powerpoint/2010/main" val="26984112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1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1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71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71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71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71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71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71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4" dur="500"/>
                                        <p:tgtEl>
                                          <p:spTgt spid="171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1010" grpId="0"/>
      <p:bldP spid="171011" grpId="0" autoUpdateAnimBg="0"/>
      <p:bldP spid="171012" grpId="0" autoUpdateAnimBg="0"/>
      <p:bldP spid="171014" grpId="0" autoUpdateAnimBg="0"/>
      <p:bldP spid="171015" grpId="0" autoUpdateAnimBg="0"/>
      <p:bldP spid="171016" grpId="0" autoUpdateAnimBg="0"/>
      <p:bldP spid="171018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Text Box 2"/>
          <p:cNvSpPr txBox="1">
            <a:spLocks noChangeArrowheads="1"/>
          </p:cNvSpPr>
          <p:nvPr/>
        </p:nvSpPr>
        <p:spPr bwMode="auto">
          <a:xfrm>
            <a:off x="179388" y="1125538"/>
            <a:ext cx="6427787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800" b="1" dirty="0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例</a:t>
            </a:r>
            <a:r>
              <a:rPr lang="en-US" altLang="zh-CN" sz="2800" b="1" dirty="0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用拉普拉斯定理计算行列式</a:t>
            </a:r>
            <a:r>
              <a:rPr lang="zh-CN" altLang="en-US" sz="3200" b="1" dirty="0">
                <a:solidFill>
                  <a:schemeClr val="tx2"/>
                </a:solidFill>
                <a:ea typeface="宋体" pitchFamily="2" charset="-122"/>
              </a:rPr>
              <a:t> </a:t>
            </a:r>
          </a:p>
        </p:txBody>
      </p:sp>
      <p:graphicFrame>
        <p:nvGraphicFramePr>
          <p:cNvPr id="172035" name="Object 3"/>
          <p:cNvGraphicFramePr>
            <a:graphicFrameLocks noChangeAspect="1"/>
          </p:cNvGraphicFramePr>
          <p:nvPr/>
        </p:nvGraphicFramePr>
        <p:xfrm>
          <a:off x="5292725" y="404813"/>
          <a:ext cx="3168650" cy="2154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Equation" r:id="rId3" imgW="1346040" imgH="914400" progId="Equation.DSMT4">
                  <p:embed/>
                </p:oleObj>
              </mc:Choice>
              <mc:Fallback>
                <p:oleObj name="Equation" r:id="rId3" imgW="1346040" imgH="914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725" y="404813"/>
                        <a:ext cx="3168650" cy="21542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2036" name="Object 4"/>
          <p:cNvGraphicFramePr>
            <a:graphicFrameLocks noChangeAspect="1"/>
          </p:cNvGraphicFramePr>
          <p:nvPr/>
        </p:nvGraphicFramePr>
        <p:xfrm>
          <a:off x="250825" y="2708275"/>
          <a:ext cx="8545513" cy="1039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Equation" r:id="rId5" imgW="3848040" imgH="457200" progId="Equation.DSMT4">
                  <p:embed/>
                </p:oleObj>
              </mc:Choice>
              <mc:Fallback>
                <p:oleObj name="Equation" r:id="rId5" imgW="384804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2708275"/>
                        <a:ext cx="8545513" cy="1039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2037" name="Object 5"/>
          <p:cNvGraphicFramePr>
            <a:graphicFrameLocks noChangeAspect="1"/>
          </p:cNvGraphicFramePr>
          <p:nvPr/>
        </p:nvGraphicFramePr>
        <p:xfrm>
          <a:off x="1403350" y="3860800"/>
          <a:ext cx="4032250" cy="1106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Equation" r:id="rId7" imgW="1663560" imgH="457200" progId="Equation.DSMT4">
                  <p:embed/>
                </p:oleObj>
              </mc:Choice>
              <mc:Fallback>
                <p:oleObj name="Equation" r:id="rId7" imgW="166356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3860800"/>
                        <a:ext cx="4032250" cy="11064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2038" name="Text Box 6"/>
          <p:cNvSpPr txBox="1">
            <a:spLocks noChangeArrowheads="1"/>
          </p:cNvSpPr>
          <p:nvPr/>
        </p:nvSpPr>
        <p:spPr bwMode="auto">
          <a:xfrm>
            <a:off x="179388" y="2133600"/>
            <a:ext cx="1066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2800" b="1">
                <a:solidFill>
                  <a:schemeClr val="tx2"/>
                </a:solidFill>
                <a:ea typeface="楷体_GB2312" pitchFamily="49" charset="-122"/>
              </a:rPr>
              <a:t>解：</a:t>
            </a:r>
          </a:p>
        </p:txBody>
      </p:sp>
      <p:sp>
        <p:nvSpPr>
          <p:cNvPr id="172039" name="Text Box 7"/>
          <p:cNvSpPr txBox="1">
            <a:spLocks noChangeArrowheads="1"/>
          </p:cNvSpPr>
          <p:nvPr/>
        </p:nvSpPr>
        <p:spPr bwMode="auto">
          <a:xfrm>
            <a:off x="900113" y="5084763"/>
            <a:ext cx="7777162" cy="1160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kumimoji="0" lang="zh-CN" altLang="en-US" sz="2800" b="1">
                <a:solidFill>
                  <a:schemeClr val="tx1"/>
                </a:solidFill>
                <a:ea typeface="宋体" pitchFamily="2" charset="-122"/>
              </a:rPr>
              <a:t>＝</a:t>
            </a:r>
            <a:r>
              <a:rPr kumimoji="0" lang="en-US" altLang="zh-CN" sz="2800" b="1">
                <a:solidFill>
                  <a:schemeClr val="tx1"/>
                </a:solidFill>
                <a:ea typeface="宋体" pitchFamily="2" charset="-122"/>
              </a:rPr>
              <a:t>1×(</a:t>
            </a:r>
            <a:r>
              <a:rPr kumimoji="0" lang="zh-CN" altLang="en-US" sz="2800" b="1">
                <a:solidFill>
                  <a:schemeClr val="tx1"/>
                </a:solidFill>
                <a:ea typeface="宋体" pitchFamily="2" charset="-122"/>
              </a:rPr>
              <a:t>－</a:t>
            </a:r>
            <a:r>
              <a:rPr kumimoji="0" lang="en-US" altLang="zh-CN" sz="2800" b="1">
                <a:solidFill>
                  <a:schemeClr val="tx1"/>
                </a:solidFill>
                <a:ea typeface="宋体" pitchFamily="2" charset="-122"/>
              </a:rPr>
              <a:t>3)</a:t>
            </a:r>
            <a:r>
              <a:rPr kumimoji="0" lang="zh-CN" altLang="en-US" sz="2800" b="1">
                <a:solidFill>
                  <a:schemeClr val="tx1"/>
                </a:solidFill>
                <a:ea typeface="宋体" pitchFamily="2" charset="-122"/>
              </a:rPr>
              <a:t>＋</a:t>
            </a:r>
            <a:r>
              <a:rPr kumimoji="0" lang="en-US" altLang="zh-CN" sz="2800" b="1">
                <a:solidFill>
                  <a:schemeClr val="tx1"/>
                </a:solidFill>
                <a:ea typeface="宋体" pitchFamily="2" charset="-122"/>
              </a:rPr>
              <a:t>(</a:t>
            </a:r>
            <a:r>
              <a:rPr kumimoji="0" lang="zh-CN" altLang="en-US" sz="2800" b="1">
                <a:solidFill>
                  <a:schemeClr val="tx1"/>
                </a:solidFill>
                <a:ea typeface="宋体" pitchFamily="2" charset="-122"/>
              </a:rPr>
              <a:t>－</a:t>
            </a:r>
            <a:r>
              <a:rPr kumimoji="0" lang="en-US" altLang="zh-CN" sz="2800" b="1">
                <a:solidFill>
                  <a:schemeClr val="tx1"/>
                </a:solidFill>
                <a:ea typeface="宋体" pitchFamily="2" charset="-122"/>
              </a:rPr>
              <a:t>15)(</a:t>
            </a:r>
            <a:r>
              <a:rPr kumimoji="0" lang="zh-CN" altLang="en-US" sz="2800" b="1">
                <a:solidFill>
                  <a:schemeClr val="tx1"/>
                </a:solidFill>
                <a:ea typeface="宋体" pitchFamily="2" charset="-122"/>
              </a:rPr>
              <a:t>－</a:t>
            </a:r>
            <a:r>
              <a:rPr kumimoji="0" lang="en-US" altLang="zh-CN" sz="2800" b="1">
                <a:solidFill>
                  <a:schemeClr val="tx1"/>
                </a:solidFill>
                <a:ea typeface="宋体" pitchFamily="2" charset="-122"/>
              </a:rPr>
              <a:t>1)(</a:t>
            </a:r>
            <a:r>
              <a:rPr kumimoji="0" lang="zh-CN" altLang="en-US" sz="2800" b="1">
                <a:solidFill>
                  <a:schemeClr val="tx1"/>
                </a:solidFill>
                <a:ea typeface="宋体" pitchFamily="2" charset="-122"/>
              </a:rPr>
              <a:t>－</a:t>
            </a:r>
            <a:r>
              <a:rPr kumimoji="0" lang="en-US" altLang="zh-CN" sz="2800" b="1">
                <a:solidFill>
                  <a:schemeClr val="tx1"/>
                </a:solidFill>
                <a:ea typeface="宋体" pitchFamily="2" charset="-122"/>
              </a:rPr>
              <a:t>4)</a:t>
            </a:r>
            <a:r>
              <a:rPr kumimoji="0" lang="zh-CN" altLang="en-US" sz="2800" b="1">
                <a:solidFill>
                  <a:schemeClr val="tx1"/>
                </a:solidFill>
                <a:ea typeface="宋体" pitchFamily="2" charset="-122"/>
              </a:rPr>
              <a:t>＋</a:t>
            </a:r>
            <a:r>
              <a:rPr kumimoji="0" lang="en-US" altLang="zh-CN" sz="2800" b="1">
                <a:solidFill>
                  <a:schemeClr val="tx1"/>
                </a:solidFill>
                <a:ea typeface="宋体" pitchFamily="2" charset="-122"/>
              </a:rPr>
              <a:t>(</a:t>
            </a:r>
            <a:r>
              <a:rPr kumimoji="0" lang="zh-CN" altLang="en-US" sz="2800" b="1">
                <a:solidFill>
                  <a:schemeClr val="tx1"/>
                </a:solidFill>
                <a:ea typeface="宋体" pitchFamily="2" charset="-122"/>
              </a:rPr>
              <a:t>－</a:t>
            </a:r>
            <a:r>
              <a:rPr kumimoji="0" lang="en-US" altLang="zh-CN" sz="2800" b="1">
                <a:solidFill>
                  <a:schemeClr val="tx1"/>
                </a:solidFill>
                <a:ea typeface="宋体" pitchFamily="2" charset="-122"/>
              </a:rPr>
              <a:t>9)(</a:t>
            </a:r>
            <a:r>
              <a:rPr kumimoji="0" lang="zh-CN" altLang="en-US" sz="2800" b="1">
                <a:solidFill>
                  <a:schemeClr val="tx1"/>
                </a:solidFill>
                <a:ea typeface="宋体" pitchFamily="2" charset="-122"/>
              </a:rPr>
              <a:t>－</a:t>
            </a:r>
            <a:r>
              <a:rPr kumimoji="0" lang="en-US" altLang="zh-CN" sz="2800" b="1">
                <a:solidFill>
                  <a:schemeClr val="tx1"/>
                </a:solidFill>
                <a:ea typeface="宋体" pitchFamily="2" charset="-122"/>
              </a:rPr>
              <a:t>8)</a:t>
            </a:r>
          </a:p>
          <a:p>
            <a:pPr eaLnBrk="1" hangingPunct="1"/>
            <a:r>
              <a:rPr kumimoji="0" lang="zh-CN" altLang="en-US" sz="2800" b="1">
                <a:solidFill>
                  <a:schemeClr val="tx1"/>
                </a:solidFill>
                <a:ea typeface="宋体" pitchFamily="2" charset="-122"/>
              </a:rPr>
              <a:t>＝</a:t>
            </a:r>
            <a:r>
              <a:rPr kumimoji="0" lang="en-US" altLang="zh-CN" sz="2800" b="1">
                <a:solidFill>
                  <a:schemeClr val="tx1"/>
                </a:solidFill>
                <a:ea typeface="宋体" pitchFamily="2" charset="-122"/>
              </a:rPr>
              <a:t>9 </a:t>
            </a:r>
          </a:p>
        </p:txBody>
      </p:sp>
    </p:spTree>
    <p:extLst>
      <p:ext uri="{BB962C8B-B14F-4D97-AF65-F5344CB8AC3E}">
        <p14:creationId xmlns:p14="http://schemas.microsoft.com/office/powerpoint/2010/main" val="5805274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2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72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72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203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3058" name="Object 2"/>
          <p:cNvGraphicFramePr>
            <a:graphicFrameLocks noChangeAspect="1"/>
          </p:cNvGraphicFramePr>
          <p:nvPr/>
        </p:nvGraphicFramePr>
        <p:xfrm>
          <a:off x="3132138" y="188913"/>
          <a:ext cx="3535362" cy="2714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4" name="Equation" r:id="rId3" imgW="1485720" imgH="1143000" progId="Equation.DSMT4">
                  <p:embed/>
                </p:oleObj>
              </mc:Choice>
              <mc:Fallback>
                <p:oleObj name="Equation" r:id="rId3" imgW="1485720" imgH="1143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2138" y="188913"/>
                        <a:ext cx="3535362" cy="2714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3059" name="Text Box 3"/>
          <p:cNvSpPr txBox="1">
            <a:spLocks noChangeArrowheads="1"/>
          </p:cNvSpPr>
          <p:nvPr/>
        </p:nvSpPr>
        <p:spPr bwMode="auto">
          <a:xfrm>
            <a:off x="250825" y="1196975"/>
            <a:ext cx="3048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例</a:t>
            </a:r>
            <a:r>
              <a:rPr lang="en-US" altLang="zh-CN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9  </a:t>
            </a:r>
            <a:r>
              <a:rPr lang="zh-CN" altLang="en-US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计算行列式</a:t>
            </a:r>
            <a:r>
              <a:rPr lang="zh-CN" altLang="en-US" sz="3200" b="1">
                <a:solidFill>
                  <a:schemeClr val="tx2"/>
                </a:solidFill>
                <a:ea typeface="宋体" pitchFamily="2" charset="-122"/>
              </a:rPr>
              <a:t> </a:t>
            </a:r>
          </a:p>
        </p:txBody>
      </p:sp>
      <p:sp>
        <p:nvSpPr>
          <p:cNvPr id="173060" name="Text Box 4"/>
          <p:cNvSpPr txBox="1">
            <a:spLocks noChangeArrowheads="1"/>
          </p:cNvSpPr>
          <p:nvPr/>
        </p:nvSpPr>
        <p:spPr bwMode="auto">
          <a:xfrm>
            <a:off x="179388" y="2565400"/>
            <a:ext cx="1066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800" b="1">
                <a:solidFill>
                  <a:schemeClr val="tx2"/>
                </a:solidFill>
                <a:ea typeface="楷体_GB2312" pitchFamily="49" charset="-122"/>
              </a:rPr>
              <a:t>解：</a:t>
            </a:r>
          </a:p>
        </p:txBody>
      </p:sp>
      <p:sp>
        <p:nvSpPr>
          <p:cNvPr id="173062" name="Text Box 6"/>
          <p:cNvSpPr txBox="1">
            <a:spLocks noChangeArrowheads="1"/>
          </p:cNvSpPr>
          <p:nvPr/>
        </p:nvSpPr>
        <p:spPr bwMode="auto">
          <a:xfrm>
            <a:off x="684213" y="2997200"/>
            <a:ext cx="55435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法一  按三、四、五行展开</a:t>
            </a:r>
          </a:p>
        </p:txBody>
      </p:sp>
      <p:graphicFrame>
        <p:nvGraphicFramePr>
          <p:cNvPr id="173063" name="Object 7"/>
          <p:cNvGraphicFramePr>
            <a:graphicFrameLocks noChangeAspect="1"/>
          </p:cNvGraphicFramePr>
          <p:nvPr/>
        </p:nvGraphicFramePr>
        <p:xfrm>
          <a:off x="827088" y="3573463"/>
          <a:ext cx="5621337" cy="1646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5" name="Equation" r:id="rId5" imgW="2450880" imgH="711000" progId="Equation.DSMT4">
                  <p:embed/>
                </p:oleObj>
              </mc:Choice>
              <mc:Fallback>
                <p:oleObj name="Equation" r:id="rId5" imgW="2450880" imgH="71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3573463"/>
                        <a:ext cx="5621337" cy="16462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3064" name="Line 8"/>
          <p:cNvSpPr>
            <a:spLocks noChangeShapeType="1"/>
          </p:cNvSpPr>
          <p:nvPr/>
        </p:nvSpPr>
        <p:spPr bwMode="auto">
          <a:xfrm>
            <a:off x="3924300" y="954088"/>
            <a:ext cx="2709863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3065" name="Line 9"/>
          <p:cNvSpPr>
            <a:spLocks noChangeShapeType="1"/>
          </p:cNvSpPr>
          <p:nvPr/>
        </p:nvSpPr>
        <p:spPr bwMode="auto">
          <a:xfrm>
            <a:off x="6510338" y="257175"/>
            <a:ext cx="0" cy="2509838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3066" name="Line 10"/>
          <p:cNvSpPr>
            <a:spLocks noChangeShapeType="1"/>
          </p:cNvSpPr>
          <p:nvPr/>
        </p:nvSpPr>
        <p:spPr bwMode="auto">
          <a:xfrm>
            <a:off x="3930650" y="427038"/>
            <a:ext cx="2709863" cy="0"/>
          </a:xfrm>
          <a:prstGeom prst="line">
            <a:avLst/>
          </a:prstGeom>
          <a:noFill/>
          <a:ln w="28575">
            <a:solidFill>
              <a:srgbClr val="3366FF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3067" name="Line 11"/>
          <p:cNvSpPr>
            <a:spLocks noChangeShapeType="1"/>
          </p:cNvSpPr>
          <p:nvPr/>
        </p:nvSpPr>
        <p:spPr bwMode="auto">
          <a:xfrm>
            <a:off x="4035425" y="280988"/>
            <a:ext cx="0" cy="2509837"/>
          </a:xfrm>
          <a:prstGeom prst="line">
            <a:avLst/>
          </a:prstGeom>
          <a:noFill/>
          <a:ln w="28575">
            <a:solidFill>
              <a:srgbClr val="3366FF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3068" name="Rectangle 12"/>
          <p:cNvSpPr>
            <a:spLocks noChangeArrowheads="1"/>
          </p:cNvSpPr>
          <p:nvPr/>
        </p:nvSpPr>
        <p:spPr bwMode="auto">
          <a:xfrm>
            <a:off x="1546225" y="4005263"/>
            <a:ext cx="504825" cy="1152525"/>
          </a:xfrm>
          <a:prstGeom prst="rect">
            <a:avLst/>
          </a:prstGeom>
          <a:noFill/>
          <a:ln w="317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spcBef>
                <a:spcPct val="0"/>
              </a:spcBef>
            </a:pPr>
            <a:endParaRPr kumimoji="0" lang="zh-CN" altLang="zh-CN" sz="3200" b="1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173069" name="Text Box 13"/>
          <p:cNvSpPr txBox="1">
            <a:spLocks noChangeArrowheads="1"/>
          </p:cNvSpPr>
          <p:nvPr/>
        </p:nvSpPr>
        <p:spPr bwMode="auto">
          <a:xfrm>
            <a:off x="6731000" y="4149725"/>
            <a:ext cx="15843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kumimoji="0" lang="en-US" altLang="zh-CN" sz="2800" b="1">
                <a:solidFill>
                  <a:schemeClr val="tx1"/>
                </a:solidFill>
                <a:ea typeface="宋体" pitchFamily="2" charset="-122"/>
              </a:rPr>
              <a:t>= </a:t>
            </a:r>
            <a:r>
              <a:rPr kumimoji="0" lang="en-US" altLang="zh-CN" b="1"/>
              <a:t>﹣</a:t>
            </a:r>
            <a:r>
              <a:rPr kumimoji="0" lang="en-US" altLang="zh-CN" sz="2800" b="1">
                <a:solidFill>
                  <a:schemeClr val="tx1"/>
                </a:solidFill>
                <a:ea typeface="宋体" pitchFamily="2" charset="-122"/>
              </a:rPr>
              <a:t>1080</a:t>
            </a:r>
          </a:p>
        </p:txBody>
      </p:sp>
      <p:grpSp>
        <p:nvGrpSpPr>
          <p:cNvPr id="173070" name="Group 14"/>
          <p:cNvGrpSpPr>
            <a:grpSpLocks/>
          </p:cNvGrpSpPr>
          <p:nvPr/>
        </p:nvGrpSpPr>
        <p:grpSpPr bwMode="auto">
          <a:xfrm>
            <a:off x="3924300" y="188913"/>
            <a:ext cx="2722563" cy="2549525"/>
            <a:chOff x="2426" y="37"/>
            <a:chExt cx="1715" cy="1606"/>
          </a:xfrm>
        </p:grpSpPr>
        <p:sp>
          <p:nvSpPr>
            <p:cNvPr id="173071" name="Line 15"/>
            <p:cNvSpPr>
              <a:spLocks noChangeShapeType="1"/>
            </p:cNvSpPr>
            <p:nvPr/>
          </p:nvSpPr>
          <p:spPr bwMode="auto">
            <a:xfrm>
              <a:off x="2426" y="845"/>
              <a:ext cx="1707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3072" name="Line 16"/>
            <p:cNvSpPr>
              <a:spLocks noChangeShapeType="1"/>
            </p:cNvSpPr>
            <p:nvPr/>
          </p:nvSpPr>
          <p:spPr bwMode="auto">
            <a:xfrm>
              <a:off x="3742" y="37"/>
              <a:ext cx="0" cy="1581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3073" name="Line 17"/>
            <p:cNvSpPr>
              <a:spLocks noChangeShapeType="1"/>
            </p:cNvSpPr>
            <p:nvPr/>
          </p:nvSpPr>
          <p:spPr bwMode="auto">
            <a:xfrm>
              <a:off x="2434" y="1182"/>
              <a:ext cx="1707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3074" name="Line 18"/>
            <p:cNvSpPr>
              <a:spLocks noChangeShapeType="1"/>
            </p:cNvSpPr>
            <p:nvPr/>
          </p:nvSpPr>
          <p:spPr bwMode="auto">
            <a:xfrm>
              <a:off x="3348" y="62"/>
              <a:ext cx="0" cy="1581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3075" name="Line 19"/>
            <p:cNvSpPr>
              <a:spLocks noChangeShapeType="1"/>
            </p:cNvSpPr>
            <p:nvPr/>
          </p:nvSpPr>
          <p:spPr bwMode="auto">
            <a:xfrm>
              <a:off x="2426" y="1508"/>
              <a:ext cx="1707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3076" name="Line 20"/>
            <p:cNvSpPr>
              <a:spLocks noChangeShapeType="1"/>
            </p:cNvSpPr>
            <p:nvPr/>
          </p:nvSpPr>
          <p:spPr bwMode="auto">
            <a:xfrm>
              <a:off x="2889" y="46"/>
              <a:ext cx="0" cy="1581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8140905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3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307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3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3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3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3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3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73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1" dur="500"/>
                                        <p:tgtEl>
                                          <p:spTgt spid="173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5" dur="500"/>
                                        <p:tgtEl>
                                          <p:spTgt spid="173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3062" grpId="0" autoUpdateAnimBg="0"/>
      <p:bldP spid="173064" grpId="0" animBg="1"/>
      <p:bldP spid="173065" grpId="0" animBg="1"/>
      <p:bldP spid="173066" grpId="0" animBg="1"/>
      <p:bldP spid="173067" grpId="0" animBg="1"/>
      <p:bldP spid="173068" grpId="0" animBg="1"/>
      <p:bldP spid="17306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4082" name="Object 2"/>
          <p:cNvGraphicFramePr>
            <a:graphicFrameLocks noChangeAspect="1"/>
          </p:cNvGraphicFramePr>
          <p:nvPr/>
        </p:nvGraphicFramePr>
        <p:xfrm>
          <a:off x="0" y="981075"/>
          <a:ext cx="3851275" cy="302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1" name="Equation" r:id="rId3" imgW="1777680" imgH="1396800" progId="Equation.DSMT4">
                  <p:embed/>
                </p:oleObj>
              </mc:Choice>
              <mc:Fallback>
                <p:oleObj name="Equation" r:id="rId3" imgW="1777680" imgH="1396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981075"/>
                        <a:ext cx="3851275" cy="302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083" name="Text Box 3"/>
          <p:cNvSpPr txBox="1">
            <a:spLocks noChangeArrowheads="1"/>
          </p:cNvSpPr>
          <p:nvPr/>
        </p:nvSpPr>
        <p:spPr bwMode="auto">
          <a:xfrm>
            <a:off x="179388" y="333375"/>
            <a:ext cx="79930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kumimoji="0" lang="zh-CN" altLang="en-US" sz="2800" b="1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应用拉普拉斯定理易得行列式计算中的常用结论</a:t>
            </a:r>
            <a:r>
              <a:rPr kumimoji="0" lang="en-US" altLang="zh-CN" sz="2800" b="1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:</a:t>
            </a:r>
          </a:p>
        </p:txBody>
      </p:sp>
      <p:graphicFrame>
        <p:nvGraphicFramePr>
          <p:cNvPr id="174084" name="Object 4"/>
          <p:cNvGraphicFramePr>
            <a:graphicFrameLocks noChangeAspect="1"/>
          </p:cNvGraphicFramePr>
          <p:nvPr/>
        </p:nvGraphicFramePr>
        <p:xfrm>
          <a:off x="5219700" y="1557338"/>
          <a:ext cx="3924300" cy="1598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2" name="Equation" r:id="rId5" imgW="1765080" imgH="711000" progId="Equation.DSMT4">
                  <p:embed/>
                </p:oleObj>
              </mc:Choice>
              <mc:Fallback>
                <p:oleObj name="Equation" r:id="rId5" imgW="1765080" imgH="71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9700" y="1557338"/>
                        <a:ext cx="3924300" cy="15986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085" name="Text Box 5"/>
          <p:cNvSpPr txBox="1">
            <a:spLocks noChangeArrowheads="1"/>
          </p:cNvSpPr>
          <p:nvPr/>
        </p:nvSpPr>
        <p:spPr bwMode="auto">
          <a:xfrm>
            <a:off x="3779838" y="1989138"/>
            <a:ext cx="14763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kumimoji="0" lang="zh-CN" altLang="en-US" sz="18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按前</a:t>
            </a:r>
            <a:r>
              <a:rPr kumimoji="0" lang="en-US" altLang="zh-CN" sz="1800" i="1">
                <a:solidFill>
                  <a:schemeClr val="tx1"/>
                </a:solidFill>
                <a:ea typeface="楷体_GB2312" pitchFamily="49" charset="-122"/>
              </a:rPr>
              <a:t>k</a:t>
            </a:r>
            <a:r>
              <a:rPr kumimoji="0" lang="zh-CN" altLang="en-US" sz="18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行展开</a:t>
            </a:r>
          </a:p>
        </p:txBody>
      </p:sp>
      <p:grpSp>
        <p:nvGrpSpPr>
          <p:cNvPr id="174086" name="Group 6"/>
          <p:cNvGrpSpPr>
            <a:grpSpLocks/>
          </p:cNvGrpSpPr>
          <p:nvPr/>
        </p:nvGrpSpPr>
        <p:grpSpPr bwMode="auto">
          <a:xfrm>
            <a:off x="3924300" y="2492375"/>
            <a:ext cx="1152525" cy="71438"/>
            <a:chOff x="83" y="3145"/>
            <a:chExt cx="2020" cy="91"/>
          </a:xfrm>
        </p:grpSpPr>
        <p:sp>
          <p:nvSpPr>
            <p:cNvPr id="174087" name="Line 7"/>
            <p:cNvSpPr>
              <a:spLocks noChangeShapeType="1"/>
            </p:cNvSpPr>
            <p:nvPr/>
          </p:nvSpPr>
          <p:spPr bwMode="auto">
            <a:xfrm flipV="1">
              <a:off x="83" y="3145"/>
              <a:ext cx="2019" cy="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088" name="Line 8"/>
            <p:cNvSpPr>
              <a:spLocks noChangeShapeType="1"/>
            </p:cNvSpPr>
            <p:nvPr/>
          </p:nvSpPr>
          <p:spPr bwMode="auto">
            <a:xfrm>
              <a:off x="85" y="3234"/>
              <a:ext cx="2018" cy="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174090" name="Object 10"/>
          <p:cNvGraphicFramePr>
            <a:graphicFrameLocks noGrp="1" noChangeAspect="1"/>
          </p:cNvGraphicFramePr>
          <p:nvPr>
            <p:ph/>
          </p:nvPr>
        </p:nvGraphicFramePr>
        <p:xfrm>
          <a:off x="1692275" y="4076700"/>
          <a:ext cx="3529013" cy="2505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3" name="Equation" r:id="rId7" imgW="1968480" imgH="1396800" progId="Equation.DSMT4">
                  <p:embed/>
                </p:oleObj>
              </mc:Choice>
              <mc:Fallback>
                <p:oleObj name="Equation" r:id="rId7" imgW="1968480" imgH="1396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4076700"/>
                        <a:ext cx="3529013" cy="2505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14438398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500"/>
                                        <p:tgtEl>
                                          <p:spTgt spid="174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74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4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2" dur="500"/>
                                        <p:tgtEl>
                                          <p:spTgt spid="174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7" dur="500"/>
                                        <p:tgtEl>
                                          <p:spTgt spid="174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08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2"/>
          <p:cNvSpPr>
            <a:spLocks noChangeArrowheads="1"/>
          </p:cNvSpPr>
          <p:nvPr/>
        </p:nvSpPr>
        <p:spPr bwMode="auto">
          <a:xfrm>
            <a:off x="3441700" y="24669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CC99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75107" name="Text Box 3"/>
          <p:cNvSpPr txBox="1">
            <a:spLocks noChangeArrowheads="1"/>
          </p:cNvSpPr>
          <p:nvPr/>
        </p:nvSpPr>
        <p:spPr bwMode="auto">
          <a:xfrm>
            <a:off x="5795963" y="4365625"/>
            <a:ext cx="2160587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kumimoji="0" lang="zh-CN" altLang="en-US" sz="3600">
                <a:solidFill>
                  <a:srgbClr val="FFFF00"/>
                </a:solidFill>
                <a:latin typeface="Arial" charset="0"/>
                <a:ea typeface="叶根友毛笔行书" pitchFamily="2" charset="-122"/>
              </a:rPr>
              <a:t>乘法公式</a:t>
            </a:r>
          </a:p>
        </p:txBody>
      </p:sp>
      <p:sp>
        <p:nvSpPr>
          <p:cNvPr id="175108" name="Rectangle 4"/>
          <p:cNvSpPr>
            <a:spLocks noChangeArrowheads="1"/>
          </p:cNvSpPr>
          <p:nvPr/>
        </p:nvSpPr>
        <p:spPr bwMode="auto">
          <a:xfrm>
            <a:off x="73025" y="33623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75109" name="Object 5"/>
          <p:cNvGraphicFramePr>
            <a:graphicFrameLocks noChangeAspect="1"/>
          </p:cNvGraphicFramePr>
          <p:nvPr/>
        </p:nvGraphicFramePr>
        <p:xfrm>
          <a:off x="771525" y="404813"/>
          <a:ext cx="3571875" cy="221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8" name="Equation" r:id="rId3" imgW="1523880" imgH="939600" progId="Equation.DSMT4">
                  <p:embed/>
                </p:oleObj>
              </mc:Choice>
              <mc:Fallback>
                <p:oleObj name="Equation" r:id="rId3" imgW="1523880" imgH="939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1525" y="404813"/>
                        <a:ext cx="3571875" cy="2216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5110" name="Rectangle 6"/>
          <p:cNvSpPr>
            <a:spLocks noChangeArrowheads="1"/>
          </p:cNvSpPr>
          <p:nvPr/>
        </p:nvSpPr>
        <p:spPr bwMode="auto">
          <a:xfrm>
            <a:off x="73025" y="33623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75111" name="Object 7"/>
          <p:cNvGraphicFramePr>
            <a:graphicFrameLocks noChangeAspect="1"/>
          </p:cNvGraphicFramePr>
          <p:nvPr/>
        </p:nvGraphicFramePr>
        <p:xfrm>
          <a:off x="4500563" y="404813"/>
          <a:ext cx="3529012" cy="2195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9" name="Equation" r:id="rId5" imgW="1511280" imgH="939600" progId="Equation.DSMT4">
                  <p:embed/>
                </p:oleObj>
              </mc:Choice>
              <mc:Fallback>
                <p:oleObj name="Equation" r:id="rId5" imgW="1511280" imgH="939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0563" y="404813"/>
                        <a:ext cx="3529012" cy="21955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5112" name="Object 8"/>
          <p:cNvGraphicFramePr>
            <a:graphicFrameLocks noChangeAspect="1"/>
          </p:cNvGraphicFramePr>
          <p:nvPr/>
        </p:nvGraphicFramePr>
        <p:xfrm>
          <a:off x="827088" y="3573463"/>
          <a:ext cx="4275137" cy="220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0" name="Equation" r:id="rId7" imgW="1828800" imgH="939600" progId="Equation.DSMT4">
                  <p:embed/>
                </p:oleObj>
              </mc:Choice>
              <mc:Fallback>
                <p:oleObj name="Equation" r:id="rId7" imgW="1828800" imgH="939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3573463"/>
                        <a:ext cx="4275137" cy="2206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5113" name="Rectangle 9"/>
          <p:cNvSpPr>
            <a:spLocks noChangeArrowheads="1"/>
          </p:cNvSpPr>
          <p:nvPr/>
        </p:nvSpPr>
        <p:spPr bwMode="auto">
          <a:xfrm>
            <a:off x="73025" y="37147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75114" name="Object 10"/>
          <p:cNvGraphicFramePr>
            <a:graphicFrameLocks noChangeAspect="1"/>
          </p:cNvGraphicFramePr>
          <p:nvPr/>
        </p:nvGraphicFramePr>
        <p:xfrm>
          <a:off x="611188" y="2852738"/>
          <a:ext cx="7921625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1" name="Equation" r:id="rId9" imgW="3479760" imgH="241200" progId="Equation.DSMT4">
                  <p:embed/>
                </p:oleObj>
              </mc:Choice>
              <mc:Fallback>
                <p:oleObj name="Equation" r:id="rId9" imgW="347976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2852738"/>
                        <a:ext cx="7921625" cy="542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5115" name="Text Box 11"/>
          <p:cNvSpPr txBox="1">
            <a:spLocks noChangeArrowheads="1"/>
          </p:cNvSpPr>
          <p:nvPr/>
        </p:nvSpPr>
        <p:spPr bwMode="auto">
          <a:xfrm>
            <a:off x="250825" y="1125538"/>
            <a:ext cx="5048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kumimoji="0" lang="zh-CN" altLang="en-US" sz="2800">
                <a:solidFill>
                  <a:schemeClr val="tx1"/>
                </a:solidFill>
                <a:latin typeface="Arial" charset="0"/>
                <a:ea typeface="楷体_GB2312" pitchFamily="49" charset="-122"/>
              </a:rPr>
              <a:t>设</a:t>
            </a:r>
          </a:p>
        </p:txBody>
      </p:sp>
      <p:sp>
        <p:nvSpPr>
          <p:cNvPr id="175116" name="Text Box 12"/>
          <p:cNvSpPr txBox="1">
            <a:spLocks noChangeArrowheads="1"/>
          </p:cNvSpPr>
          <p:nvPr/>
        </p:nvSpPr>
        <p:spPr bwMode="auto">
          <a:xfrm>
            <a:off x="323850" y="4365625"/>
            <a:ext cx="7191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kumimoji="0" lang="zh-CN" altLang="en-US" sz="2800">
                <a:solidFill>
                  <a:schemeClr val="tx1"/>
                </a:solidFill>
                <a:latin typeface="Arial" charset="0"/>
                <a:ea typeface="楷体_GB2312" pitchFamily="49" charset="-122"/>
              </a:rPr>
              <a:t>则</a:t>
            </a:r>
          </a:p>
        </p:txBody>
      </p:sp>
    </p:spTree>
    <p:extLst>
      <p:ext uri="{BB962C8B-B14F-4D97-AF65-F5344CB8AC3E}">
        <p14:creationId xmlns:p14="http://schemas.microsoft.com/office/powerpoint/2010/main" val="21553211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5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5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5107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穿越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穿越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穿越">
      <a:fillStyleLst>
        <a:solidFill>
          <a:schemeClr val="phClr"/>
        </a:solidFill>
        <a:gradFill rotWithShape="1">
          <a:gsLst>
            <a:gs pos="0">
              <a:schemeClr val="phClr">
                <a:tint val="25000"/>
                <a:satMod val="125000"/>
              </a:schemeClr>
            </a:gs>
            <a:gs pos="40000">
              <a:schemeClr val="phClr">
                <a:tint val="55000"/>
                <a:satMod val="130000"/>
              </a:schemeClr>
            </a:gs>
            <a:gs pos="50000">
              <a:schemeClr val="phClr">
                <a:tint val="59000"/>
                <a:satMod val="130000"/>
              </a:schemeClr>
            </a:gs>
            <a:gs pos="65000">
              <a:schemeClr val="phClr">
                <a:tint val="55000"/>
                <a:satMod val="130000"/>
              </a:schemeClr>
            </a:gs>
            <a:gs pos="100000">
              <a:schemeClr val="phClr">
                <a:tint val="20000"/>
                <a:satMod val="12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8000"/>
                <a:satMod val="138000"/>
              </a:schemeClr>
            </a:gs>
            <a:gs pos="25000">
              <a:schemeClr val="phClr">
                <a:tint val="85000"/>
              </a:schemeClr>
            </a:gs>
            <a:gs pos="40000">
              <a:schemeClr val="phClr">
                <a:tint val="92000"/>
              </a:schemeClr>
            </a:gs>
            <a:gs pos="50000">
              <a:schemeClr val="phClr">
                <a:tint val="93000"/>
              </a:schemeClr>
            </a:gs>
            <a:gs pos="60000">
              <a:schemeClr val="phClr">
                <a:tint val="92000"/>
              </a:schemeClr>
            </a:gs>
            <a:gs pos="75000">
              <a:schemeClr val="phClr">
                <a:tint val="83000"/>
                <a:satMod val="108000"/>
              </a:schemeClr>
            </a:gs>
            <a:gs pos="100000">
              <a:schemeClr val="phClr">
                <a:tint val="48000"/>
                <a:satMod val="150000"/>
              </a:schemeClr>
            </a:gs>
          </a:gsLst>
          <a:lin ang="5400000" scaled="0"/>
        </a:gradFill>
      </a:fillStyleLst>
      <a:lnStyleLst>
        <a:ln w="12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</a:effectStyle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>
            <a:bevelT w="0" h="0"/>
            <a:contourClr>
              <a:schemeClr val="phClr">
                <a:tint val="70000"/>
              </a:schemeClr>
            </a:contourClr>
          </a:sp3d>
        </a:effectStyle>
        <a:effectStyle>
          <a:effectLst>
            <a:glow rad="101500">
              <a:schemeClr val="phClr">
                <a:alpha val="42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glow" dir="t">
              <a:rot lat="0" lon="0" rev="4800000"/>
            </a:lightRig>
          </a:scene3d>
          <a:sp3d prstMaterial="powder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bg1">
                <a:shade val="100000"/>
                <a:satMod val="150000"/>
              </a:schemeClr>
            </a:gs>
            <a:gs pos="65000">
              <a:schemeClr val="bg1">
                <a:shade val="90000"/>
                <a:satMod val="375000"/>
              </a:schemeClr>
            </a:gs>
            <a:gs pos="100000">
              <a:schemeClr val="phClr">
                <a:tint val="88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0000"/>
                <a:satMod val="180000"/>
              </a:schemeClr>
              <a:schemeClr val="phClr">
                <a:tint val="90000"/>
                <a:satMod val="20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Metro</Template>
  <TotalTime>4</TotalTime>
  <Words>241</Words>
  <Application>Microsoft Office PowerPoint</Application>
  <PresentationFormat>全屏显示(4:3)</PresentationFormat>
  <Paragraphs>28</Paragraphs>
  <Slides>6</Slides>
  <Notes>0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8" baseType="lpstr">
      <vt:lpstr>穿越</vt:lpstr>
      <vt:lpstr>MathType 6.0 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jack</dc:creator>
  <cp:lastModifiedBy>jack</cp:lastModifiedBy>
  <cp:revision>2</cp:revision>
  <dcterms:created xsi:type="dcterms:W3CDTF">2018-09-24T14:13:06Z</dcterms:created>
  <dcterms:modified xsi:type="dcterms:W3CDTF">2018-09-24T14:19:10Z</dcterms:modified>
</cp:coreProperties>
</file>